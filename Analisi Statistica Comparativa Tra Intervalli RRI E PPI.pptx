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26"/>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7" r:id="rId20"/>
    <p:sldId id="278" r:id="rId21"/>
    <p:sldId id="279" r:id="rId22"/>
    <p:sldId id="276" r:id="rId23"/>
    <p:sldId id="280"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799" autoAdjust="0"/>
    <p:restoredTop sz="77124" autoAdjust="0"/>
  </p:normalViewPr>
  <p:slideViewPr>
    <p:cSldViewPr snapToGrid="0">
      <p:cViewPr>
        <p:scale>
          <a:sx n="93" d="100"/>
          <a:sy n="93" d="100"/>
        </p:scale>
        <p:origin x="8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A247CF-53DB-4D22-9951-95E949C83CD2}" type="datetimeFigureOut">
              <a:rPr lang="it-IT" smtClean="0"/>
              <a:t>10/09/2026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F977A-314C-41F3-B4BC-68F45772230F}" type="slidenum">
              <a:rPr lang="it-IT" smtClean="0"/>
              <a:t>‹N›</a:t>
            </a:fld>
            <a:endParaRPr lang="it-IT"/>
          </a:p>
        </p:txBody>
      </p:sp>
    </p:spTree>
    <p:extLst>
      <p:ext uri="{BB962C8B-B14F-4D97-AF65-F5344CB8AC3E}">
        <p14:creationId xmlns:p14="http://schemas.microsoft.com/office/powerpoint/2010/main" val="3497571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i="0" kern="1200" dirty="0" err="1">
                <a:solidFill>
                  <a:schemeClr val="tx1"/>
                </a:solidFill>
                <a:effectLst/>
                <a:latin typeface="+mn-lt"/>
                <a:ea typeface="+mn-ea"/>
                <a:cs typeface="+mn-cs"/>
              </a:rPr>
              <a:t>coeff</a:t>
            </a:r>
            <a:r>
              <a:rPr lang="it-IT" sz="1200" b="0" i="0" kern="1200" dirty="0">
                <a:solidFill>
                  <a:schemeClr val="tx1"/>
                </a:solidFill>
                <a:effectLst/>
                <a:latin typeface="+mn-lt"/>
                <a:ea typeface="+mn-ea"/>
                <a:cs typeface="+mn-cs"/>
              </a:rPr>
              <a:t> = </a:t>
            </a:r>
            <a:r>
              <a:rPr lang="it-IT" sz="1200" b="0" i="0" kern="1200" dirty="0" err="1">
                <a:solidFill>
                  <a:schemeClr val="tx1"/>
                </a:solidFill>
                <a:effectLst/>
                <a:latin typeface="+mn-lt"/>
                <a:ea typeface="+mn-ea"/>
                <a:cs typeface="+mn-cs"/>
              </a:rPr>
              <a:t>polyfit</a:t>
            </a:r>
            <a:r>
              <a:rPr lang="it-IT" sz="1200" b="0" i="0" kern="1200" dirty="0">
                <a:solidFill>
                  <a:schemeClr val="tx1"/>
                </a:solidFill>
                <a:effectLst/>
                <a:latin typeface="+mn-lt"/>
                <a:ea typeface="+mn-ea"/>
                <a:cs typeface="+mn-cs"/>
              </a:rPr>
              <a:t>(rr,pp,1); -&gt; stima coefficienti mediante minimi quadrati</a:t>
            </a:r>
          </a:p>
          <a:p>
            <a:br>
              <a:rPr lang="it-IT" sz="1200" b="0" i="0" kern="1200" dirty="0">
                <a:solidFill>
                  <a:schemeClr val="tx1"/>
                </a:solidFill>
                <a:effectLst/>
                <a:latin typeface="+mn-lt"/>
                <a:ea typeface="+mn-ea"/>
                <a:cs typeface="+mn-cs"/>
              </a:rPr>
            </a:br>
            <a:r>
              <a:rPr lang="it-IT" sz="1200" b="0" i="0" kern="1200" dirty="0" err="1">
                <a:solidFill>
                  <a:schemeClr val="tx1"/>
                </a:solidFill>
                <a:effectLst/>
                <a:latin typeface="+mn-lt"/>
                <a:ea typeface="+mn-ea"/>
                <a:cs typeface="+mn-cs"/>
              </a:rPr>
              <a:t>pp_pred</a:t>
            </a:r>
            <a:r>
              <a:rPr lang="it-IT" sz="1200" b="0" i="0" kern="1200" dirty="0">
                <a:solidFill>
                  <a:schemeClr val="tx1"/>
                </a:solidFill>
                <a:effectLst/>
                <a:latin typeface="+mn-lt"/>
                <a:ea typeface="+mn-ea"/>
                <a:cs typeface="+mn-cs"/>
              </a:rPr>
              <a:t> = </a:t>
            </a:r>
            <a:r>
              <a:rPr lang="it-IT" sz="1200" b="0" i="0" kern="1200" dirty="0" err="1">
                <a:solidFill>
                  <a:schemeClr val="tx1"/>
                </a:solidFill>
                <a:effectLst/>
                <a:latin typeface="+mn-lt"/>
                <a:ea typeface="+mn-ea"/>
                <a:cs typeface="+mn-cs"/>
              </a:rPr>
              <a:t>polyval</a:t>
            </a:r>
            <a:r>
              <a:rPr lang="it-IT" sz="1200" b="0" i="0" kern="1200" dirty="0">
                <a:solidFill>
                  <a:schemeClr val="tx1"/>
                </a:solidFill>
                <a:effectLst/>
                <a:latin typeface="+mn-lt"/>
                <a:ea typeface="+mn-ea"/>
                <a:cs typeface="+mn-cs"/>
              </a:rPr>
              <a:t>(</a:t>
            </a:r>
            <a:r>
              <a:rPr lang="it-IT" sz="1200" b="0" i="0" kern="1200" dirty="0" err="1">
                <a:solidFill>
                  <a:schemeClr val="tx1"/>
                </a:solidFill>
                <a:effectLst/>
                <a:latin typeface="+mn-lt"/>
                <a:ea typeface="+mn-ea"/>
                <a:cs typeface="+mn-cs"/>
              </a:rPr>
              <a:t>coeff,rr</a:t>
            </a:r>
            <a:r>
              <a:rPr lang="it-IT" sz="1200" b="0" i="0" kern="1200" dirty="0">
                <a:solidFill>
                  <a:schemeClr val="tx1"/>
                </a:solidFill>
                <a:effectLst/>
                <a:latin typeface="+mn-lt"/>
                <a:ea typeface="+mn-ea"/>
                <a:cs typeface="+mn-cs"/>
              </a:rPr>
              <a:t>); -&gt; calcolo valori PPI previsti dal modello</a:t>
            </a:r>
          </a:p>
          <a:p>
            <a:endParaRPr lang="it-IT" sz="1200" b="0" i="0" kern="1200" dirty="0">
              <a:solidFill>
                <a:schemeClr val="tx1"/>
              </a:solidFill>
              <a:effectLst/>
              <a:latin typeface="+mn-lt"/>
              <a:ea typeface="+mn-ea"/>
              <a:cs typeface="+mn-cs"/>
            </a:endParaRPr>
          </a:p>
          <a:p>
            <a:pPr lvl="0"/>
            <a:r>
              <a:rPr lang="it-IT" sz="1200" b="0" u="none" strike="noStrike" kern="1200" dirty="0">
                <a:solidFill>
                  <a:schemeClr val="tx1"/>
                </a:solidFill>
                <a:effectLst/>
                <a:latin typeface="+mn-lt"/>
                <a:ea typeface="+mn-ea"/>
                <a:cs typeface="+mn-cs"/>
              </a:rPr>
              <a:t>RSS (</a:t>
            </a:r>
            <a:r>
              <a:rPr lang="it-IT" sz="1200" b="0" u="none" strike="noStrike" kern="1200" dirty="0" err="1">
                <a:solidFill>
                  <a:schemeClr val="tx1"/>
                </a:solidFill>
                <a:effectLst/>
                <a:latin typeface="+mn-lt"/>
                <a:ea typeface="+mn-ea"/>
                <a:cs typeface="+mn-cs"/>
              </a:rPr>
              <a:t>Residual</a:t>
            </a:r>
            <a:r>
              <a:rPr lang="it-IT" sz="1200" b="0" u="none" strike="noStrike" kern="1200" dirty="0">
                <a:solidFill>
                  <a:schemeClr val="tx1"/>
                </a:solidFill>
                <a:effectLst/>
                <a:latin typeface="+mn-lt"/>
                <a:ea typeface="+mn-ea"/>
                <a:cs typeface="+mn-cs"/>
              </a:rPr>
              <a:t> Sum of </a:t>
            </a:r>
            <a:r>
              <a:rPr lang="it-IT" sz="1200" b="0" u="none" strike="noStrike" kern="1200" dirty="0" err="1">
                <a:solidFill>
                  <a:schemeClr val="tx1"/>
                </a:solidFill>
                <a:effectLst/>
                <a:latin typeface="+mn-lt"/>
                <a:ea typeface="+mn-ea"/>
                <a:cs typeface="+mn-cs"/>
              </a:rPr>
              <a:t>Squares</a:t>
            </a:r>
            <a:r>
              <a:rPr lang="it-IT" sz="1200" b="0" u="none" strike="noStrike" kern="1200" dirty="0">
                <a:solidFill>
                  <a:schemeClr val="tx1"/>
                </a:solidFill>
                <a:effectLst/>
                <a:latin typeface="+mn-lt"/>
                <a:ea typeface="+mn-ea"/>
                <a:cs typeface="+mn-cs"/>
              </a:rPr>
              <a:t>): la somma dei quadrati delle differenze tra i valori osservati e quelli stimati dal modello.</a:t>
            </a:r>
          </a:p>
          <a:p>
            <a:pPr lvl="0"/>
            <a:r>
              <a:rPr lang="it-IT" sz="1200" b="0" u="none" strike="noStrike" kern="1200" dirty="0">
                <a:solidFill>
                  <a:schemeClr val="tx1"/>
                </a:solidFill>
                <a:effectLst/>
                <a:latin typeface="+mn-lt"/>
                <a:ea typeface="+mn-ea"/>
                <a:cs typeface="+mn-cs"/>
              </a:rPr>
              <a:t>TSS (Total Sum of </a:t>
            </a:r>
            <a:r>
              <a:rPr lang="it-IT" sz="1200" b="0" u="none" strike="noStrike" kern="1200" dirty="0" err="1">
                <a:solidFill>
                  <a:schemeClr val="tx1"/>
                </a:solidFill>
                <a:effectLst/>
                <a:latin typeface="+mn-lt"/>
                <a:ea typeface="+mn-ea"/>
                <a:cs typeface="+mn-cs"/>
              </a:rPr>
              <a:t>Squares</a:t>
            </a:r>
            <a:r>
              <a:rPr lang="it-IT" sz="1200" b="0" u="none" strike="noStrike" kern="1200" dirty="0">
                <a:solidFill>
                  <a:schemeClr val="tx1"/>
                </a:solidFill>
                <a:effectLst/>
                <a:latin typeface="+mn-lt"/>
                <a:ea typeface="+mn-ea"/>
                <a:cs typeface="+mn-cs"/>
              </a:rPr>
              <a:t>): la somma dei quadrati delle differenze tra i valori osservati e la loro media</a:t>
            </a:r>
          </a:p>
          <a:p>
            <a:br>
              <a:rPr lang="it-IT" sz="1200" b="0" i="0" kern="1200" dirty="0">
                <a:solidFill>
                  <a:schemeClr val="tx1"/>
                </a:solidFill>
                <a:effectLst/>
                <a:latin typeface="+mn-lt"/>
                <a:ea typeface="+mn-ea"/>
                <a:cs typeface="+mn-cs"/>
              </a:rPr>
            </a:br>
            <a:endParaRPr lang="it-IT" sz="1200" b="0" i="0" kern="1200" dirty="0">
              <a:solidFill>
                <a:schemeClr val="tx1"/>
              </a:solidFill>
              <a:effectLst/>
              <a:latin typeface="+mn-lt"/>
              <a:ea typeface="+mn-ea"/>
              <a:cs typeface="+mn-cs"/>
            </a:endParaRPr>
          </a:p>
        </p:txBody>
      </p:sp>
      <p:sp>
        <p:nvSpPr>
          <p:cNvPr id="4" name="Segnaposto numero diapositiva 3"/>
          <p:cNvSpPr>
            <a:spLocks noGrp="1"/>
          </p:cNvSpPr>
          <p:nvPr>
            <p:ph type="sldNum" sz="quarter" idx="5"/>
          </p:nvPr>
        </p:nvSpPr>
        <p:spPr/>
        <p:txBody>
          <a:bodyPr/>
          <a:lstStyle/>
          <a:p>
            <a:fld id="{20BF977A-314C-41F3-B4BC-68F45772230F}" type="slidenum">
              <a:rPr lang="it-IT" smtClean="0"/>
              <a:t>12</a:t>
            </a:fld>
            <a:endParaRPr lang="it-IT"/>
          </a:p>
        </p:txBody>
      </p:sp>
    </p:spTree>
    <p:extLst>
      <p:ext uri="{BB962C8B-B14F-4D97-AF65-F5344CB8AC3E}">
        <p14:creationId xmlns:p14="http://schemas.microsoft.com/office/powerpoint/2010/main" val="758451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kern="1200" dirty="0" err="1">
                <a:solidFill>
                  <a:schemeClr val="tx1"/>
                </a:solidFill>
                <a:latin typeface="+mn-lt"/>
                <a:ea typeface="+mn-ea"/>
                <a:cs typeface="+mn-cs"/>
              </a:rPr>
              <a:t>VARorder</a:t>
            </a:r>
            <a:r>
              <a:rPr lang="it-IT" sz="1200" b="0" kern="1200" dirty="0">
                <a:solidFill>
                  <a:schemeClr val="tx1"/>
                </a:solidFill>
                <a:latin typeface="+mn-lt"/>
                <a:ea typeface="+mn-ea"/>
                <a:cs typeface="+mn-cs"/>
              </a:rPr>
              <a:t> -&gt; funzione che ci consente di selezionare l’ordine del modello</a:t>
            </a:r>
          </a:p>
          <a:p>
            <a:r>
              <a:rPr lang="it-IT" sz="1200" b="0" kern="1200" dirty="0" err="1">
                <a:solidFill>
                  <a:schemeClr val="tx1"/>
                </a:solidFill>
                <a:latin typeface="+mn-lt"/>
                <a:ea typeface="+mn-ea"/>
                <a:cs typeface="+mn-cs"/>
              </a:rPr>
              <a:t>pottaic</a:t>
            </a:r>
            <a:r>
              <a:rPr lang="it-IT" b="1" dirty="0"/>
              <a:t> </a:t>
            </a:r>
            <a:r>
              <a:rPr lang="it-IT" dirty="0"/>
              <a:t>contiene l’ordine che minimizza AIC.</a:t>
            </a:r>
          </a:p>
        </p:txBody>
      </p:sp>
      <p:sp>
        <p:nvSpPr>
          <p:cNvPr id="4" name="Segnaposto numero diapositiva 3"/>
          <p:cNvSpPr>
            <a:spLocks noGrp="1"/>
          </p:cNvSpPr>
          <p:nvPr>
            <p:ph type="sldNum" sz="quarter" idx="5"/>
          </p:nvPr>
        </p:nvSpPr>
        <p:spPr/>
        <p:txBody>
          <a:bodyPr/>
          <a:lstStyle/>
          <a:p>
            <a:fld id="{20BF977A-314C-41F3-B4BC-68F45772230F}" type="slidenum">
              <a:rPr lang="it-IT" smtClean="0"/>
              <a:t>14</a:t>
            </a:fld>
            <a:endParaRPr lang="it-IT"/>
          </a:p>
        </p:txBody>
      </p:sp>
    </p:spTree>
    <p:extLst>
      <p:ext uri="{BB962C8B-B14F-4D97-AF65-F5344CB8AC3E}">
        <p14:creationId xmlns:p14="http://schemas.microsoft.com/office/powerpoint/2010/main" val="61566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err="1"/>
              <a:t>LinReg</a:t>
            </a:r>
            <a:r>
              <a:rPr lang="it-IT" dirty="0"/>
              <a:t> costruisce un modello di regressione lineare dinamico mediante il metodo dei minimi quadrati.</a:t>
            </a:r>
          </a:p>
          <a:p>
            <a:pPr lvl="0"/>
            <a:r>
              <a:rPr lang="it-IT" sz="1200" kern="1200" dirty="0">
                <a:solidFill>
                  <a:schemeClr val="tx1"/>
                </a:solidFill>
                <a:latin typeface="+mn-lt"/>
                <a:ea typeface="+mn-ea"/>
                <a:cs typeface="+mn-cs"/>
              </a:rPr>
              <a:t>data</a:t>
            </a:r>
            <a:r>
              <a:rPr lang="it-IT" dirty="0"/>
              <a:t> contiene le serie;</a:t>
            </a:r>
          </a:p>
          <a:p>
            <a:pPr lvl="0"/>
            <a:r>
              <a:rPr lang="it-IT" sz="1200" kern="1200" dirty="0">
                <a:solidFill>
                  <a:schemeClr val="tx1"/>
                </a:solidFill>
                <a:latin typeface="+mn-lt"/>
                <a:ea typeface="+mn-ea"/>
                <a:cs typeface="+mn-cs"/>
              </a:rPr>
              <a:t>jv</a:t>
            </a:r>
            <a:r>
              <a:rPr lang="it-IT" dirty="0"/>
              <a:t> identifica la serie target da prevedere;</a:t>
            </a:r>
          </a:p>
          <a:p>
            <a:pPr lvl="0"/>
            <a:r>
              <a:rPr lang="it-IT" sz="1200" kern="1200" dirty="0">
                <a:solidFill>
                  <a:schemeClr val="tx1"/>
                </a:solidFill>
                <a:latin typeface="+mn-lt"/>
                <a:ea typeface="+mn-ea"/>
                <a:cs typeface="+mn-cs"/>
              </a:rPr>
              <a:t>iv</a:t>
            </a:r>
            <a:r>
              <a:rPr lang="it-IT" dirty="0"/>
              <a:t> identifica le serie usate come predittori;</a:t>
            </a:r>
          </a:p>
          <a:p>
            <a:pPr lvl="0"/>
            <a:r>
              <a:rPr lang="it-IT" sz="1200" kern="1200" dirty="0" err="1">
                <a:solidFill>
                  <a:schemeClr val="tx1"/>
                </a:solidFill>
                <a:latin typeface="+mn-lt"/>
                <a:ea typeface="+mn-ea"/>
                <a:cs typeface="+mn-cs"/>
              </a:rPr>
              <a:t>iv_lags</a:t>
            </a:r>
            <a:r>
              <a:rPr lang="it-IT" dirty="0"/>
              <a:t> indica quali ritardi temporali utilizzare.</a:t>
            </a:r>
          </a:p>
          <a:p>
            <a:endParaRPr lang="it-IT" dirty="0"/>
          </a:p>
        </p:txBody>
      </p:sp>
      <p:sp>
        <p:nvSpPr>
          <p:cNvPr id="4" name="Segnaposto numero diapositiva 3"/>
          <p:cNvSpPr>
            <a:spLocks noGrp="1"/>
          </p:cNvSpPr>
          <p:nvPr>
            <p:ph type="sldNum" sz="quarter" idx="5"/>
          </p:nvPr>
        </p:nvSpPr>
        <p:spPr/>
        <p:txBody>
          <a:bodyPr/>
          <a:lstStyle/>
          <a:p>
            <a:fld id="{20BF977A-314C-41F3-B4BC-68F45772230F}" type="slidenum">
              <a:rPr lang="it-IT" smtClean="0"/>
              <a:t>15</a:t>
            </a:fld>
            <a:endParaRPr lang="it-IT"/>
          </a:p>
        </p:txBody>
      </p:sp>
    </p:spTree>
    <p:extLst>
      <p:ext uri="{BB962C8B-B14F-4D97-AF65-F5344CB8AC3E}">
        <p14:creationId xmlns:p14="http://schemas.microsoft.com/office/powerpoint/2010/main" val="625287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err="1"/>
              <a:t>LinReg_Ftest</a:t>
            </a:r>
            <a:r>
              <a:rPr lang="it-IT" dirty="0"/>
              <a:t> verifica se la riduzione dell’errore del modello completo è statisticamente significativa.</a:t>
            </a:r>
          </a:p>
          <a:p>
            <a:pPr lvl="0"/>
            <a:r>
              <a:rPr lang="it-IT" dirty="0"/>
              <a:t>i residui del modello completo;</a:t>
            </a:r>
          </a:p>
          <a:p>
            <a:pPr lvl="0"/>
            <a:r>
              <a:rPr lang="it-IT" dirty="0"/>
              <a:t>i residui del modello ristretto;</a:t>
            </a:r>
          </a:p>
          <a:p>
            <a:pPr lvl="0"/>
            <a:r>
              <a:rPr lang="it-IT" dirty="0"/>
              <a:t>il numero di coefficienti del modello completo;</a:t>
            </a:r>
          </a:p>
          <a:p>
            <a:pPr lvl="0"/>
            <a:r>
              <a:rPr lang="it-IT" dirty="0"/>
              <a:t>il numero di coefficienti del modello ristretto.</a:t>
            </a:r>
          </a:p>
          <a:p>
            <a:endParaRPr lang="it-IT" dirty="0"/>
          </a:p>
        </p:txBody>
      </p:sp>
      <p:sp>
        <p:nvSpPr>
          <p:cNvPr id="4" name="Segnaposto numero diapositiva 3"/>
          <p:cNvSpPr>
            <a:spLocks noGrp="1"/>
          </p:cNvSpPr>
          <p:nvPr>
            <p:ph type="sldNum" sz="quarter" idx="5"/>
          </p:nvPr>
        </p:nvSpPr>
        <p:spPr/>
        <p:txBody>
          <a:bodyPr/>
          <a:lstStyle/>
          <a:p>
            <a:fld id="{20BF977A-314C-41F3-B4BC-68F45772230F}" type="slidenum">
              <a:rPr lang="it-IT" smtClean="0"/>
              <a:t>16</a:t>
            </a:fld>
            <a:endParaRPr lang="it-IT"/>
          </a:p>
        </p:txBody>
      </p:sp>
    </p:spTree>
    <p:extLst>
      <p:ext uri="{BB962C8B-B14F-4D97-AF65-F5344CB8AC3E}">
        <p14:creationId xmlns:p14="http://schemas.microsoft.com/office/powerpoint/2010/main" val="2028084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it-IT" dirty="0"/>
              <a:t>Prima confronta le misure di causalità nelle fasi i e j, calcola la statistica t e il relativo p-</a:t>
            </a:r>
            <a:r>
              <a:rPr lang="it-IT" dirty="0" err="1"/>
              <a:t>value</a:t>
            </a:r>
            <a:r>
              <a:rPr lang="it-IT" dirty="0"/>
              <a:t>. Successivamente confronta il p-</a:t>
            </a:r>
            <a:r>
              <a:rPr lang="it-IT" dirty="0" err="1"/>
              <a:t>value</a:t>
            </a:r>
            <a:r>
              <a:rPr lang="it-IT" dirty="0"/>
              <a:t> con alpha=0,05</a:t>
            </a:r>
            <a:endParaRPr lang="it-IT" sz="1200" kern="1200" dirty="0">
              <a:solidFill>
                <a:schemeClr val="tx1"/>
              </a:solidFill>
              <a:latin typeface="+mn-lt"/>
              <a:ea typeface="+mn-ea"/>
              <a:cs typeface="+mn-cs"/>
            </a:endParaRPr>
          </a:p>
          <a:p>
            <a:pPr lvl="0"/>
            <a:endParaRPr lang="it-IT" sz="1200" kern="1200" dirty="0">
              <a:solidFill>
                <a:schemeClr val="tx1"/>
              </a:solidFill>
              <a:latin typeface="+mn-lt"/>
              <a:ea typeface="+mn-ea"/>
              <a:cs typeface="+mn-cs"/>
            </a:endParaRPr>
          </a:p>
          <a:p>
            <a:pPr lvl="0"/>
            <a:r>
              <a:rPr lang="it-IT" sz="1200" kern="1200" dirty="0" err="1">
                <a:solidFill>
                  <a:schemeClr val="tx1"/>
                </a:solidFill>
                <a:latin typeface="+mn-lt"/>
                <a:ea typeface="+mn-ea"/>
                <a:cs typeface="+mn-cs"/>
              </a:rPr>
              <a:t>h_rp</a:t>
            </a:r>
            <a:r>
              <a:rPr lang="it-IT" sz="1200" kern="1200" dirty="0">
                <a:solidFill>
                  <a:schemeClr val="tx1"/>
                </a:solidFill>
                <a:latin typeface="+mn-lt"/>
                <a:ea typeface="+mn-ea"/>
                <a:cs typeface="+mn-cs"/>
              </a:rPr>
              <a:t>(</a:t>
            </a:r>
            <a:r>
              <a:rPr lang="it-IT" sz="1200" kern="1200" dirty="0" err="1">
                <a:solidFill>
                  <a:schemeClr val="tx1"/>
                </a:solidFill>
                <a:latin typeface="+mn-lt"/>
                <a:ea typeface="+mn-ea"/>
                <a:cs typeface="+mn-cs"/>
              </a:rPr>
              <a:t>i,j</a:t>
            </a:r>
            <a:r>
              <a:rPr lang="it-IT" sz="1200" kern="1200" dirty="0">
                <a:solidFill>
                  <a:schemeClr val="tx1"/>
                </a:solidFill>
                <a:latin typeface="+mn-lt"/>
                <a:ea typeface="+mn-ea"/>
                <a:cs typeface="+mn-cs"/>
              </a:rPr>
              <a:t>) = 1</a:t>
            </a:r>
            <a:r>
              <a:rPr lang="it-IT" dirty="0"/>
              <a:t>: viene rifiutata l’ipotesi nulla;</a:t>
            </a:r>
          </a:p>
          <a:p>
            <a:pPr lvl="0"/>
            <a:r>
              <a:rPr lang="it-IT" sz="1200" kern="1200" dirty="0" err="1">
                <a:solidFill>
                  <a:schemeClr val="tx1"/>
                </a:solidFill>
                <a:latin typeface="+mn-lt"/>
                <a:ea typeface="+mn-ea"/>
                <a:cs typeface="+mn-cs"/>
              </a:rPr>
              <a:t>h_rp</a:t>
            </a:r>
            <a:r>
              <a:rPr lang="it-IT" sz="1200" kern="1200" dirty="0">
                <a:solidFill>
                  <a:schemeClr val="tx1"/>
                </a:solidFill>
                <a:latin typeface="+mn-lt"/>
                <a:ea typeface="+mn-ea"/>
                <a:cs typeface="+mn-cs"/>
              </a:rPr>
              <a:t>(</a:t>
            </a:r>
            <a:r>
              <a:rPr lang="it-IT" sz="1200" kern="1200" dirty="0" err="1">
                <a:solidFill>
                  <a:schemeClr val="tx1"/>
                </a:solidFill>
                <a:latin typeface="+mn-lt"/>
                <a:ea typeface="+mn-ea"/>
                <a:cs typeface="+mn-cs"/>
              </a:rPr>
              <a:t>i,j</a:t>
            </a:r>
            <a:r>
              <a:rPr lang="it-IT" sz="1200" kern="1200" dirty="0">
                <a:solidFill>
                  <a:schemeClr val="tx1"/>
                </a:solidFill>
                <a:latin typeface="+mn-lt"/>
                <a:ea typeface="+mn-ea"/>
                <a:cs typeface="+mn-cs"/>
              </a:rPr>
              <a:t>) = 0</a:t>
            </a:r>
            <a:r>
              <a:rPr lang="it-IT" dirty="0"/>
              <a:t>: l’ipotesi nulla non viene rifiutata.</a:t>
            </a:r>
          </a:p>
          <a:p>
            <a:endParaRPr lang="it-IT" dirty="0"/>
          </a:p>
          <a:p>
            <a:pPr lvl="0"/>
            <a:r>
              <a:rPr lang="it-IT" dirty="0"/>
              <a:t>P &lt; 0,05 differenza statisticamente significativa;</a:t>
            </a:r>
          </a:p>
          <a:p>
            <a:pPr lvl="0"/>
            <a:r>
              <a:rPr lang="it-IT" dirty="0"/>
              <a:t>P &gt;= 0,05 non ci sono evidenze sufficienti per dichiarare una differenza</a:t>
            </a:r>
          </a:p>
          <a:p>
            <a:endParaRPr lang="it-IT" dirty="0"/>
          </a:p>
        </p:txBody>
      </p:sp>
      <p:sp>
        <p:nvSpPr>
          <p:cNvPr id="4" name="Segnaposto numero diapositiva 3"/>
          <p:cNvSpPr>
            <a:spLocks noGrp="1"/>
          </p:cNvSpPr>
          <p:nvPr>
            <p:ph type="sldNum" sz="quarter" idx="5"/>
          </p:nvPr>
        </p:nvSpPr>
        <p:spPr/>
        <p:txBody>
          <a:bodyPr/>
          <a:lstStyle/>
          <a:p>
            <a:fld id="{20BF977A-314C-41F3-B4BC-68F45772230F}" type="slidenum">
              <a:rPr lang="it-IT" smtClean="0"/>
              <a:t>19</a:t>
            </a:fld>
            <a:endParaRPr lang="it-IT"/>
          </a:p>
        </p:txBody>
      </p:sp>
    </p:spTree>
    <p:extLst>
      <p:ext uri="{BB962C8B-B14F-4D97-AF65-F5344CB8AC3E}">
        <p14:creationId xmlns:p14="http://schemas.microsoft.com/office/powerpoint/2010/main" val="1867529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it-IT"/>
              <a:t>Fare clic per modificare lo stile del titolo dello schema</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endParaRPr lang="it-IT"/>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63501597-88E2-42BF-B024-AE020A0264AE}" type="slidenum">
              <a:rPr lang="it-IT" smtClean="0"/>
              <a:t>‹N›</a:t>
            </a:fld>
            <a:endParaRPr lang="it-IT"/>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80388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uto">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it-IT"/>
              <a:t>Fare clic per modificare lo stile del titolo dello schema</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930812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it-IT"/>
              <a:t>Fare clic per modificare lo stile del titolo dello schema</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endParaRPr lang="it-IT"/>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2C163E23-5945-47DB-B839-E48C6F6426EF}" type="datetimeFigureOut">
              <a:rPr lang="it-IT" smtClean="0"/>
              <a:t>10/09/2026</a:t>
            </a:fld>
            <a:endParaRPr lang="it-IT"/>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63501597-88E2-42BF-B024-AE020A0264AE}" type="slidenum">
              <a:rPr lang="it-IT" smtClean="0"/>
              <a:t>‹N›</a:t>
            </a:fld>
            <a:endParaRPr lang="it-IT"/>
          </a:p>
        </p:txBody>
      </p:sp>
    </p:spTree>
    <p:extLst>
      <p:ext uri="{BB962C8B-B14F-4D97-AF65-F5344CB8AC3E}">
        <p14:creationId xmlns:p14="http://schemas.microsoft.com/office/powerpoint/2010/main" val="87550075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it-IT"/>
              <a:t>Fare clic per modificare lo stile del titolo dello schema</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it-IT"/>
              <a:t>Fare clic per modificare lo stile del sottotitolo dello schema</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118591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Intestazione sezion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it-IT"/>
              <a:t>Fare clic per modificare lo stile del titolo dello schema</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endParaRPr lang="it-IT"/>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232135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it-IT"/>
              <a:t>Fare clic per modificare lo stile del titolo dello schema</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it-IT"/>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63501597-88E2-42BF-B024-AE020A0264AE}" type="slidenum">
              <a:rPr lang="it-IT" smtClean="0"/>
              <a:t>‹N›</a:t>
            </a:fld>
            <a:endParaRPr lang="it-IT"/>
          </a:p>
        </p:txBody>
      </p:sp>
    </p:spTree>
    <p:extLst>
      <p:ext uri="{BB962C8B-B14F-4D97-AF65-F5344CB8AC3E}">
        <p14:creationId xmlns:p14="http://schemas.microsoft.com/office/powerpoint/2010/main" val="57041778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it-IT"/>
              <a:t>Fare clic per modificare lo stile del titolo dello schema</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endParaRPr lang="it-IT"/>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2C163E23-5945-47DB-B839-E48C6F6426EF}" type="datetimeFigureOut">
              <a:rPr lang="it-IT" smtClean="0"/>
              <a:t>10/09/2026</a:t>
            </a:fld>
            <a:endParaRPr lang="it-IT"/>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63501597-88E2-42BF-B024-AE020A0264AE}" type="slidenum">
              <a:rPr lang="it-IT" smtClean="0"/>
              <a:t>‹N›</a:t>
            </a:fld>
            <a:endParaRPr lang="it-IT"/>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8933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it-IT"/>
              <a:t>Fare clic per modificare lo stile del titolo dello schema</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399086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it-IT"/>
              <a:t>Fare clic per modificare lo stile del titolo dello schema</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787685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it-IT"/>
              <a:t>Fare clic per modificare lo stile del titolo dello schema</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2809752"/>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it-IT"/>
              <a:t>Fare clic per modificare lo stile del titolo dello schema</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309158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it-IT"/>
              <a:t>Fare clic per modificare lo stile del titolo dello schema</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311893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it-IT"/>
              <a:t>Fare clic per modificare lo stile del titolo dello schema</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111561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it-IT"/>
              <a:t>Fare clic per modificare lo stile del titolo dello schema</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endParaRPr lang="it-IT"/>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313486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it-IT"/>
              <a:t>Fare clic per modificare lo stile del titolo dello schema</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endParaRPr lang="it-IT"/>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2C163E23-5945-47DB-B839-E48C6F6426EF}" type="datetimeFigureOut">
              <a:rPr lang="it-IT" smtClean="0"/>
              <a:t>10/09/2026</a:t>
            </a:fld>
            <a:endParaRPr lang="it-IT"/>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30173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it-IT"/>
              <a:t>Fare clic per modificare lo stile del titolo dello schema</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endParaRPr lang="it-IT"/>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spTree>
    <p:extLst>
      <p:ext uri="{BB962C8B-B14F-4D97-AF65-F5344CB8AC3E}">
        <p14:creationId xmlns:p14="http://schemas.microsoft.com/office/powerpoint/2010/main" val="259793637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it-IT"/>
              <a:t>Fare clic per modificare lo stile del titolo dello schema</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endParaRPr lang="it-IT"/>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63501597-88E2-42BF-B024-AE020A0264AE}" type="slidenum">
              <a:rPr lang="it-IT" smtClean="0"/>
              <a:t>‹N›</a:t>
            </a:fld>
            <a:endParaRPr lang="it-IT"/>
          </a:p>
        </p:txBody>
      </p:sp>
    </p:spTree>
    <p:extLst>
      <p:ext uri="{BB962C8B-B14F-4D97-AF65-F5344CB8AC3E}">
        <p14:creationId xmlns:p14="http://schemas.microsoft.com/office/powerpoint/2010/main" val="323386157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it-IT"/>
              <a:t>Fare clic per modificare lo stile del titolo dello schema</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endParaRPr lang="it-IT"/>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2C163E23-5945-47DB-B839-E48C6F6426EF}" type="datetimeFigureOut">
              <a:rPr lang="it-IT" smtClean="0"/>
              <a:t>10/09/2026</a:t>
            </a:fld>
            <a:endParaRPr lang="it-IT"/>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63501597-88E2-42BF-B024-AE020A0264AE}" type="slidenum">
              <a:rPr lang="it-IT" smtClean="0"/>
              <a:t>‹N›</a:t>
            </a:fld>
            <a:endParaRPr lang="it-IT"/>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339126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endParaRPr lang="it-IT"/>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2C163E23-5945-47DB-B839-E48C6F6426EF}" type="datetimeFigureOut">
              <a:rPr lang="it-IT" smtClean="0"/>
              <a:t>10/09/2026</a:t>
            </a:fld>
            <a:endParaRPr lang="it-IT"/>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63501597-88E2-42BF-B024-AE020A0264AE}" type="slidenum">
              <a:rPr lang="it-IT" smtClean="0"/>
              <a:t>‹N›</a:t>
            </a:fld>
            <a:endParaRPr lang="it-IT"/>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197063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it-IT"/>
              <a:t>Fare clic per modificare lo stile del titolo dello schema</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endParaRPr lang="it-IT"/>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2C163E23-5945-47DB-B839-E48C6F6426EF}" type="datetimeFigureOut">
              <a:rPr lang="it-IT" smtClean="0"/>
              <a:t>10/09/2026</a:t>
            </a:fld>
            <a:endParaRPr lang="it-IT"/>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63501597-88E2-42BF-B024-AE020A0264AE}" type="slidenum">
              <a:rPr lang="it-IT" smtClean="0"/>
              <a:t>‹N›</a:t>
            </a:fld>
            <a:endParaRPr lang="it-IT"/>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785806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endParaRPr lang="it-IT"/>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C163E23-5945-47DB-B839-E48C6F6426EF}" type="datetimeFigureOut">
              <a:rPr lang="it-IT" smtClean="0"/>
              <a:t>10/09/2026</a:t>
            </a:fld>
            <a:endParaRPr lang="it-IT"/>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63501597-88E2-42BF-B024-AE020A0264AE}" type="slidenum">
              <a:rPr lang="it-IT" smtClean="0"/>
              <a:t>‹N›</a:t>
            </a:fld>
            <a:endParaRPr lang="it-IT"/>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828656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ue contenuti">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it-IT"/>
              <a:t>Fare clic per modificare lo stile del titolo dello schema</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it-IT"/>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720538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fronto">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it-IT"/>
              <a:t>Fare clic per modificare lo stile del titolo dello schema</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it-IT"/>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38148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olo titolo">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it-IT"/>
              <a:t>Fare clic per modificare lo stile del titolo dello schema</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endParaRPr lang="it-IT"/>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63501597-88E2-42BF-B024-AE020A0264AE}" type="slidenum">
              <a:rPr lang="it-IT" smtClean="0"/>
              <a:t>‹N›</a:t>
            </a:fld>
            <a:endParaRPr lang="it-IT"/>
          </a:p>
        </p:txBody>
      </p:sp>
    </p:spTree>
    <p:extLst>
      <p:ext uri="{BB962C8B-B14F-4D97-AF65-F5344CB8AC3E}">
        <p14:creationId xmlns:p14="http://schemas.microsoft.com/office/powerpoint/2010/main" val="692490986"/>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endParaRPr lang="it-IT"/>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63501597-88E2-42BF-B024-AE020A0264AE}" type="slidenum">
              <a:rPr lang="it-IT" smtClean="0"/>
              <a:t>‹N›</a:t>
            </a:fld>
            <a:endParaRPr lang="it-IT"/>
          </a:p>
        </p:txBody>
      </p:sp>
    </p:spTree>
    <p:extLst>
      <p:ext uri="{BB962C8B-B14F-4D97-AF65-F5344CB8AC3E}">
        <p14:creationId xmlns:p14="http://schemas.microsoft.com/office/powerpoint/2010/main" val="2320872074"/>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it-IT"/>
              <a:t>Fare clic per modificare lo stile del titolo dello schema</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8273401"/>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it-IT"/>
              <a:t>Fare clic per modificare lo stile del titolo dello schema</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it-IT"/>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63501597-88E2-42BF-B024-AE020A0264AE}" type="slidenum">
              <a:rPr lang="it-IT" smtClean="0"/>
              <a:t>‹N›</a:t>
            </a:fld>
            <a:endParaRPr lang="it-IT"/>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0157238"/>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it-IT"/>
              <a:t>Fare clic per modificare lo stile del titolo dello schema</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it-IT"/>
              <a:t>Fare clic per modificare lo stile del sottotitolo dello schema</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it-IT"/>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63501597-88E2-42BF-B024-AE020A0264AE}" type="slidenum">
              <a:rPr lang="it-IT" smtClean="0"/>
              <a:t>‹N›</a:t>
            </a:fld>
            <a:endParaRPr lang="it-IT"/>
          </a:p>
        </p:txBody>
      </p:sp>
    </p:spTree>
    <p:extLst>
      <p:ext uri="{BB962C8B-B14F-4D97-AF65-F5344CB8AC3E}">
        <p14:creationId xmlns:p14="http://schemas.microsoft.com/office/powerpoint/2010/main" val="217872202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endParaRPr lang="it-IT"/>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2C163E23-5945-47DB-B839-E48C6F6426EF}" type="datetimeFigureOut">
              <a:rPr lang="it-IT" smtClean="0"/>
              <a:t>10/09/2026</a:t>
            </a:fld>
            <a:endParaRPr lang="it-IT"/>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63501597-88E2-42BF-B024-AE020A0264AE}" type="slidenum">
              <a:rPr lang="it-IT" smtClean="0"/>
              <a:t>‹N›</a:t>
            </a:fld>
            <a:endParaRPr lang="it-IT"/>
          </a:p>
        </p:txBody>
      </p:sp>
      <p:sp>
        <p:nvSpPr>
          <p:cNvPr id="8" name="TextBox 7">
            <a:extLst>
              <a:ext uri="{FF2B5EF4-FFF2-40B4-BE49-F238E27FC236}">
                <a16:creationId xmlns:a16="http://schemas.microsoft.com/office/drawing/2014/main" id="{CE1E8D67-00CA-7CDE-66AF-4E6E2CA0045D}"/>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4141892700"/>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0.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49C0753-6630-100B-F1BD-3A54DC40F6E7}"/>
              </a:ext>
            </a:extLst>
          </p:cNvPr>
          <p:cNvSpPr>
            <a:spLocks noGrp="1"/>
          </p:cNvSpPr>
          <p:nvPr>
            <p:ph type="ctrTitle"/>
          </p:nvPr>
        </p:nvSpPr>
        <p:spPr>
          <a:xfrm>
            <a:off x="1377387" y="1003072"/>
            <a:ext cx="9595413" cy="3050766"/>
          </a:xfrm>
        </p:spPr>
        <p:txBody>
          <a:bodyPr>
            <a:normAutofit/>
          </a:bodyPr>
          <a:lstStyle/>
          <a:p>
            <a:pPr algn="ctr"/>
            <a:r>
              <a:rPr lang="it-IT" sz="4400" cap="none" dirty="0"/>
              <a:t>Analisi Statistica Comparativa Tra Intervalli RRI E PPI</a:t>
            </a:r>
          </a:p>
        </p:txBody>
      </p:sp>
      <p:sp>
        <p:nvSpPr>
          <p:cNvPr id="3" name="Sottotitolo 2">
            <a:extLst>
              <a:ext uri="{FF2B5EF4-FFF2-40B4-BE49-F238E27FC236}">
                <a16:creationId xmlns:a16="http://schemas.microsoft.com/office/drawing/2014/main" id="{EDAD576E-3CAC-0F71-4E5D-3EB223BD2188}"/>
              </a:ext>
            </a:extLst>
          </p:cNvPr>
          <p:cNvSpPr>
            <a:spLocks noGrp="1"/>
          </p:cNvSpPr>
          <p:nvPr>
            <p:ph type="subTitle" idx="1"/>
          </p:nvPr>
        </p:nvSpPr>
        <p:spPr>
          <a:xfrm>
            <a:off x="2451378" y="5111519"/>
            <a:ext cx="7289245" cy="1184035"/>
          </a:xfrm>
        </p:spPr>
        <p:txBody>
          <a:bodyPr>
            <a:normAutofit/>
          </a:bodyPr>
          <a:lstStyle/>
          <a:p>
            <a:pPr algn="ctr">
              <a:lnSpc>
                <a:spcPct val="100000"/>
              </a:lnSpc>
            </a:pPr>
            <a:r>
              <a:rPr lang="it-IT" dirty="0">
                <a:solidFill>
                  <a:schemeClr val="bg1">
                    <a:lumMod val="65000"/>
                  </a:schemeClr>
                </a:solidFill>
                <a:latin typeface="+mj-lt"/>
              </a:rPr>
              <a:t>Corso di Laurea Magistrale in Ingegneria Biomedica LM-21 R</a:t>
            </a:r>
          </a:p>
          <a:p>
            <a:pPr algn="ctr">
              <a:lnSpc>
                <a:spcPct val="100000"/>
              </a:lnSpc>
            </a:pPr>
            <a:r>
              <a:rPr lang="it-IT" dirty="0">
                <a:solidFill>
                  <a:schemeClr val="bg1">
                    <a:lumMod val="65000"/>
                  </a:schemeClr>
                </a:solidFill>
                <a:latin typeface="+mj-lt"/>
              </a:rPr>
              <a:t>A.A. 2025/2026</a:t>
            </a:r>
          </a:p>
        </p:txBody>
      </p:sp>
      <p:pic>
        <p:nvPicPr>
          <p:cNvPr id="5" name="Immagine 4">
            <a:extLst>
              <a:ext uri="{FF2B5EF4-FFF2-40B4-BE49-F238E27FC236}">
                <a16:creationId xmlns:a16="http://schemas.microsoft.com/office/drawing/2014/main" id="{A9CC5320-F2F4-2E11-DDEB-5614C4701EAB}"/>
              </a:ext>
            </a:extLst>
          </p:cNvPr>
          <p:cNvPicPr>
            <a:picLocks noChangeAspect="1"/>
          </p:cNvPicPr>
          <p:nvPr/>
        </p:nvPicPr>
        <p:blipFill>
          <a:blip r:embed="rId2"/>
          <a:stretch>
            <a:fillRect/>
          </a:stretch>
        </p:blipFill>
        <p:spPr>
          <a:xfrm>
            <a:off x="-1349114" y="261829"/>
            <a:ext cx="6325720" cy="1942107"/>
          </a:xfrm>
          <a:prstGeom prst="rect">
            <a:avLst/>
          </a:prstGeom>
        </p:spPr>
      </p:pic>
      <p:sp>
        <p:nvSpPr>
          <p:cNvPr id="8" name="Sottotitolo 2">
            <a:extLst>
              <a:ext uri="{FF2B5EF4-FFF2-40B4-BE49-F238E27FC236}">
                <a16:creationId xmlns:a16="http://schemas.microsoft.com/office/drawing/2014/main" id="{9A4F2FBF-1FA0-6F50-CE26-E6B2B8F8F39C}"/>
              </a:ext>
            </a:extLst>
          </p:cNvPr>
          <p:cNvSpPr txBox="1">
            <a:spLocks/>
          </p:cNvSpPr>
          <p:nvPr/>
        </p:nvSpPr>
        <p:spPr>
          <a:xfrm>
            <a:off x="2471698" y="3993919"/>
            <a:ext cx="7289245" cy="1184035"/>
          </a:xfrm>
          <a:prstGeom prst="rect">
            <a:avLst/>
          </a:prstGeom>
        </p:spPr>
        <p:txBody>
          <a:bodyPr vert="horz" lIns="91440" tIns="45720" rIns="91440" bIns="45720" rtlCol="0" anchor="ctr">
            <a:normAutofit/>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2"/>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dirty="0">
                <a:solidFill>
                  <a:schemeClr val="bg1">
                    <a:lumMod val="65000"/>
                  </a:schemeClr>
                </a:solidFill>
                <a:latin typeface="+mj-lt"/>
              </a:rPr>
              <a:t>STATISTICAL ANALYSIS OF BIOMEDICAL SIGNALS</a:t>
            </a:r>
          </a:p>
          <a:p>
            <a:pPr>
              <a:lnSpc>
                <a:spcPct val="100000"/>
              </a:lnSpc>
            </a:pPr>
            <a:endParaRPr lang="it-IT" dirty="0">
              <a:solidFill>
                <a:schemeClr val="bg1">
                  <a:lumMod val="65000"/>
                </a:schemeClr>
              </a:solidFill>
              <a:latin typeface="+mj-lt"/>
            </a:endParaRPr>
          </a:p>
        </p:txBody>
      </p:sp>
      <p:sp>
        <p:nvSpPr>
          <p:cNvPr id="10" name="CasellaDiTesto 9">
            <a:extLst>
              <a:ext uri="{FF2B5EF4-FFF2-40B4-BE49-F238E27FC236}">
                <a16:creationId xmlns:a16="http://schemas.microsoft.com/office/drawing/2014/main" id="{FD686065-7F9C-33AA-B5D8-54DED663DF41}"/>
              </a:ext>
            </a:extLst>
          </p:cNvPr>
          <p:cNvSpPr txBox="1"/>
          <p:nvPr/>
        </p:nvSpPr>
        <p:spPr>
          <a:xfrm>
            <a:off x="538480" y="6078037"/>
            <a:ext cx="3209365" cy="369332"/>
          </a:xfrm>
          <a:prstGeom prst="rect">
            <a:avLst/>
          </a:prstGeom>
          <a:noFill/>
        </p:spPr>
        <p:txBody>
          <a:bodyPr wrap="square" rtlCol="0">
            <a:spAutoFit/>
          </a:bodyPr>
          <a:lstStyle/>
          <a:p>
            <a:r>
              <a:rPr lang="it-IT" dirty="0">
                <a:latin typeface="+mj-lt"/>
              </a:rPr>
              <a:t>Professore: LUCA FAES</a:t>
            </a:r>
          </a:p>
        </p:txBody>
      </p:sp>
      <p:sp>
        <p:nvSpPr>
          <p:cNvPr id="12" name="CasellaDiTesto 11">
            <a:extLst>
              <a:ext uri="{FF2B5EF4-FFF2-40B4-BE49-F238E27FC236}">
                <a16:creationId xmlns:a16="http://schemas.microsoft.com/office/drawing/2014/main" id="{5E00EF63-E45F-C6E2-21C8-114F377F67E2}"/>
              </a:ext>
            </a:extLst>
          </p:cNvPr>
          <p:cNvSpPr txBox="1"/>
          <p:nvPr/>
        </p:nvSpPr>
        <p:spPr>
          <a:xfrm>
            <a:off x="8477041" y="6015663"/>
            <a:ext cx="3495040" cy="369332"/>
          </a:xfrm>
          <a:prstGeom prst="rect">
            <a:avLst/>
          </a:prstGeom>
          <a:noFill/>
        </p:spPr>
        <p:txBody>
          <a:bodyPr wrap="square" rtlCol="0">
            <a:spAutoFit/>
          </a:bodyPr>
          <a:lstStyle/>
          <a:p>
            <a:r>
              <a:rPr lang="it-IT" dirty="0">
                <a:latin typeface="+mj-lt"/>
              </a:rPr>
              <a:t>Studente: LUCA PAGLIARELLO</a:t>
            </a:r>
          </a:p>
        </p:txBody>
      </p:sp>
      <p:pic>
        <p:nvPicPr>
          <p:cNvPr id="6" name="Immagine 5">
            <a:extLst>
              <a:ext uri="{FF2B5EF4-FFF2-40B4-BE49-F238E27FC236}">
                <a16:creationId xmlns:a16="http://schemas.microsoft.com/office/drawing/2014/main" id="{CAB90DC2-9991-A2B0-F1D6-F79D244FBB1C}"/>
              </a:ext>
            </a:extLst>
          </p:cNvPr>
          <p:cNvPicPr>
            <a:picLocks noChangeAspect="1"/>
          </p:cNvPicPr>
          <p:nvPr/>
        </p:nvPicPr>
        <p:blipFill>
          <a:blip r:embed="rId3"/>
          <a:stretch>
            <a:fillRect/>
          </a:stretch>
        </p:blipFill>
        <p:spPr>
          <a:xfrm>
            <a:off x="8722446" y="591762"/>
            <a:ext cx="3095640" cy="1319312"/>
          </a:xfrm>
          <a:prstGeom prst="rect">
            <a:avLst/>
          </a:prstGeom>
        </p:spPr>
      </p:pic>
    </p:spTree>
    <p:extLst>
      <p:ext uri="{BB962C8B-B14F-4D97-AF65-F5344CB8AC3E}">
        <p14:creationId xmlns:p14="http://schemas.microsoft.com/office/powerpoint/2010/main" val="107452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DDD5D1-2DCF-D9A1-D811-1F1F6F108A1D}"/>
              </a:ext>
            </a:extLst>
          </p:cNvPr>
          <p:cNvSpPr>
            <a:spLocks noGrp="1"/>
          </p:cNvSpPr>
          <p:nvPr>
            <p:ph type="title"/>
          </p:nvPr>
        </p:nvSpPr>
        <p:spPr/>
        <p:txBody>
          <a:bodyPr/>
          <a:lstStyle/>
          <a:p>
            <a:r>
              <a:rPr lang="it-IT" dirty="0"/>
              <a:t>Contesto fisiologico</a:t>
            </a:r>
          </a:p>
        </p:txBody>
      </p:sp>
      <p:pic>
        <p:nvPicPr>
          <p:cNvPr id="5" name="Segnaposto contenuto 4">
            <a:extLst>
              <a:ext uri="{FF2B5EF4-FFF2-40B4-BE49-F238E27FC236}">
                <a16:creationId xmlns:a16="http://schemas.microsoft.com/office/drawing/2014/main" id="{78EB398E-B78B-B04A-EA5B-135B4DACC8BE}"/>
              </a:ext>
            </a:extLst>
          </p:cNvPr>
          <p:cNvPicPr>
            <a:picLocks noGrp="1" noChangeAspect="1"/>
          </p:cNvPicPr>
          <p:nvPr>
            <p:ph idx="1"/>
          </p:nvPr>
        </p:nvPicPr>
        <p:blipFill>
          <a:blip r:embed="rId2"/>
          <a:stretch>
            <a:fillRect/>
          </a:stretch>
        </p:blipFill>
        <p:spPr>
          <a:xfrm>
            <a:off x="1290320" y="1423719"/>
            <a:ext cx="4937760" cy="2951921"/>
          </a:xfrm>
          <a:prstGeom prst="rect">
            <a:avLst/>
          </a:prstGeom>
        </p:spPr>
      </p:pic>
      <p:pic>
        <p:nvPicPr>
          <p:cNvPr id="7" name="Immagine 6">
            <a:extLst>
              <a:ext uri="{FF2B5EF4-FFF2-40B4-BE49-F238E27FC236}">
                <a16:creationId xmlns:a16="http://schemas.microsoft.com/office/drawing/2014/main" id="{DE27F99B-DD63-3C13-7D2F-F49AB7C8CEA0}"/>
              </a:ext>
            </a:extLst>
          </p:cNvPr>
          <p:cNvPicPr>
            <a:picLocks noChangeAspect="1"/>
          </p:cNvPicPr>
          <p:nvPr/>
        </p:nvPicPr>
        <p:blipFill>
          <a:blip r:embed="rId3"/>
          <a:stretch>
            <a:fillRect/>
          </a:stretch>
        </p:blipFill>
        <p:spPr>
          <a:xfrm>
            <a:off x="6913754" y="1883348"/>
            <a:ext cx="4069206" cy="2002477"/>
          </a:xfrm>
          <a:prstGeom prst="rect">
            <a:avLst/>
          </a:prstGeom>
        </p:spPr>
      </p:pic>
      <p:sp>
        <p:nvSpPr>
          <p:cNvPr id="9" name="CasellaDiTesto 8">
            <a:extLst>
              <a:ext uri="{FF2B5EF4-FFF2-40B4-BE49-F238E27FC236}">
                <a16:creationId xmlns:a16="http://schemas.microsoft.com/office/drawing/2014/main" id="{268A907E-8592-52D2-2B2F-9DB7E7B70B4E}"/>
              </a:ext>
            </a:extLst>
          </p:cNvPr>
          <p:cNvSpPr txBox="1"/>
          <p:nvPr/>
        </p:nvSpPr>
        <p:spPr>
          <a:xfrm>
            <a:off x="495599" y="4254031"/>
            <a:ext cx="11055723" cy="128907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it-IT" dirty="0">
                <a:latin typeface="+mj-lt"/>
                <a:cs typeface="Times New Roman" panose="02020603050405020304" pitchFamily="18" charset="0"/>
              </a:rPr>
              <a:t>ECG: Il picco R identifica l’attivazione elettrica ventricolare e costituisce il riferimento temporale del battito.</a:t>
            </a:r>
          </a:p>
          <a:p>
            <a:pPr marL="285750" indent="-285750" algn="just">
              <a:lnSpc>
                <a:spcPct val="150000"/>
              </a:lnSpc>
              <a:buFont typeface="Arial" panose="020B0604020202020204" pitchFamily="34" charset="0"/>
              <a:buChar char="•"/>
            </a:pPr>
            <a:r>
              <a:rPr lang="it-IT" dirty="0">
                <a:latin typeface="+mj-lt"/>
                <a:cs typeface="Times New Roman" panose="02020603050405020304" pitchFamily="18" charset="0"/>
              </a:rPr>
              <a:t>PPG: Il picco periferico identifica l’arrivo dell’onda pulsatile al sensore applicato al dito.</a:t>
            </a:r>
          </a:p>
          <a:p>
            <a:pPr marL="285750" indent="-285750" algn="just">
              <a:lnSpc>
                <a:spcPct val="150000"/>
              </a:lnSpc>
              <a:buFont typeface="Arial" panose="020B0604020202020204" pitchFamily="34" charset="0"/>
              <a:buChar char="•"/>
            </a:pPr>
            <a:r>
              <a:rPr lang="pt-BR" dirty="0">
                <a:latin typeface="+mj-lt"/>
                <a:cs typeface="Times New Roman" panose="02020603050405020304" pitchFamily="18" charset="0"/>
              </a:rPr>
              <a:t>PATₙ = tP,n − tR,n: Pulse Arrival Time </a:t>
            </a:r>
            <a:r>
              <a:rPr lang="it-IT" dirty="0">
                <a:latin typeface="+mj-lt"/>
                <a:cs typeface="Times New Roman" panose="02020603050405020304" pitchFamily="18" charset="0"/>
              </a:rPr>
              <a:t>comprende il ritardo tra il picco R e il corrispondente picco periferico.</a:t>
            </a:r>
            <a:r>
              <a:rPr lang="pt-BR" dirty="0">
                <a:latin typeface="+mj-lt"/>
                <a:cs typeface="Times New Roman" panose="02020603050405020304" pitchFamily="18" charset="0"/>
              </a:rPr>
              <a:t> </a:t>
            </a:r>
          </a:p>
        </p:txBody>
      </p:sp>
      <p:sp>
        <p:nvSpPr>
          <p:cNvPr id="17" name="Rettangolo 16">
            <a:extLst>
              <a:ext uri="{FF2B5EF4-FFF2-40B4-BE49-F238E27FC236}">
                <a16:creationId xmlns:a16="http://schemas.microsoft.com/office/drawing/2014/main" id="{53F792E3-73E5-56B1-6AF3-8909E7865A5E}"/>
              </a:ext>
            </a:extLst>
          </p:cNvPr>
          <p:cNvSpPr>
            <a:spLocks noGrp="1"/>
          </p:cNvSpPr>
          <p:nvPr/>
        </p:nvSpPr>
        <p:spPr>
          <a:xfrm>
            <a:off x="2932430" y="5532755"/>
            <a:ext cx="6286500" cy="590550"/>
          </a:xfrm>
          <a:prstGeom prst="rect">
            <a:avLst/>
          </a:prstGeom>
          <a:noFill/>
          <a:ln w="0">
            <a:noFill/>
          </a:ln>
        </p:spPr>
        <p:txBody>
          <a:bodyPr anchor="ctr">
            <a:normAutofit/>
          </a:bodyPr>
          <a:lstStyle/>
          <a:p>
            <a:pPr algn="ctr">
              <a:defRPr sz="2250" b="1">
                <a:solidFill>
                  <a:srgbClr val="E85D04"/>
                </a:solidFill>
                <a:latin typeface="Arial"/>
                <a:ea typeface="Arial"/>
                <a:cs typeface="Arial"/>
              </a:defRPr>
            </a:pPr>
            <a:r>
              <a:rPr sz="2250" b="1" dirty="0">
                <a:solidFill>
                  <a:srgbClr val="E85D04"/>
                </a:solidFill>
                <a:latin typeface="+mj-lt"/>
                <a:ea typeface="Arial"/>
                <a:cs typeface="Arial"/>
              </a:rPr>
              <a:t>PPIₙ − RRIₙ = PATₙ₊₁ − PATₙ</a:t>
            </a:r>
          </a:p>
        </p:txBody>
      </p:sp>
      <p:sp>
        <p:nvSpPr>
          <p:cNvPr id="19" name="Rettangolo 18">
            <a:extLst>
              <a:ext uri="{FF2B5EF4-FFF2-40B4-BE49-F238E27FC236}">
                <a16:creationId xmlns:a16="http://schemas.microsoft.com/office/drawing/2014/main" id="{C0B83E6F-0AF1-1FF3-8F01-A2961155E3BF}"/>
              </a:ext>
            </a:extLst>
          </p:cNvPr>
          <p:cNvSpPr>
            <a:spLocks noGrp="1"/>
          </p:cNvSpPr>
          <p:nvPr/>
        </p:nvSpPr>
        <p:spPr>
          <a:xfrm>
            <a:off x="2486660" y="6108065"/>
            <a:ext cx="7239000" cy="428625"/>
          </a:xfrm>
          <a:prstGeom prst="rect">
            <a:avLst/>
          </a:prstGeom>
          <a:noFill/>
          <a:ln w="0">
            <a:noFill/>
          </a:ln>
        </p:spPr>
        <p:txBody>
          <a:bodyPr anchor="ctr">
            <a:normAutofit/>
          </a:bodyPr>
          <a:lstStyle/>
          <a:p>
            <a:pPr algn="ctr">
              <a:defRPr sz="1500" b="0">
                <a:solidFill>
                  <a:srgbClr val="242424"/>
                </a:solidFill>
                <a:latin typeface="Arial"/>
                <a:ea typeface="Arial"/>
                <a:cs typeface="Arial"/>
              </a:defRPr>
            </a:pPr>
            <a:r>
              <a:rPr lang="it-IT" sz="1500" b="0" dirty="0">
                <a:solidFill>
                  <a:srgbClr val="242424"/>
                </a:solidFill>
                <a:latin typeface="+mj-lt"/>
                <a:ea typeface="Arial"/>
                <a:cs typeface="Arial"/>
              </a:rPr>
              <a:t>Le variazioni battito per battito del PAT generano le differenze tra RRI e PPI.</a:t>
            </a:r>
            <a:endParaRPr sz="1500" b="0" dirty="0">
              <a:solidFill>
                <a:srgbClr val="242424"/>
              </a:solidFill>
              <a:latin typeface="+mj-lt"/>
              <a:ea typeface="Arial"/>
              <a:cs typeface="Arial"/>
            </a:endParaRPr>
          </a:p>
        </p:txBody>
      </p:sp>
    </p:spTree>
    <p:extLst>
      <p:ext uri="{BB962C8B-B14F-4D97-AF65-F5344CB8AC3E}">
        <p14:creationId xmlns:p14="http://schemas.microsoft.com/office/powerpoint/2010/main" val="2654586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CADFAB0-2F1E-7569-89E7-2B637C3D0E02}"/>
              </a:ext>
            </a:extLst>
          </p:cNvPr>
          <p:cNvSpPr>
            <a:spLocks noGrp="1"/>
          </p:cNvSpPr>
          <p:nvPr>
            <p:ph type="title"/>
          </p:nvPr>
        </p:nvSpPr>
        <p:spPr/>
        <p:txBody>
          <a:bodyPr/>
          <a:lstStyle/>
          <a:p>
            <a:r>
              <a:rPr lang="it-IT" dirty="0"/>
              <a:t>Database b: intervalli cardiaci e periferici</a:t>
            </a:r>
          </a:p>
        </p:txBody>
      </p:sp>
      <p:pic>
        <p:nvPicPr>
          <p:cNvPr id="5" name="Segnaposto contenuto 4">
            <a:extLst>
              <a:ext uri="{FF2B5EF4-FFF2-40B4-BE49-F238E27FC236}">
                <a16:creationId xmlns:a16="http://schemas.microsoft.com/office/drawing/2014/main" id="{25A9516D-2536-4400-0557-34E535E235CA}"/>
              </a:ext>
            </a:extLst>
          </p:cNvPr>
          <p:cNvPicPr>
            <a:picLocks noGrp="1" noChangeAspect="1"/>
          </p:cNvPicPr>
          <p:nvPr>
            <p:ph idx="1"/>
          </p:nvPr>
        </p:nvPicPr>
        <p:blipFill>
          <a:blip r:embed="rId2"/>
          <a:stretch>
            <a:fillRect/>
          </a:stretch>
        </p:blipFill>
        <p:spPr>
          <a:xfrm>
            <a:off x="998219" y="1590675"/>
            <a:ext cx="2280285" cy="2280285"/>
          </a:xfrm>
          <a:prstGeom prst="rect">
            <a:avLst/>
          </a:prstGeom>
        </p:spPr>
      </p:pic>
      <p:sp>
        <p:nvSpPr>
          <p:cNvPr id="7" name="Rettangolo 6">
            <a:extLst>
              <a:ext uri="{FF2B5EF4-FFF2-40B4-BE49-F238E27FC236}">
                <a16:creationId xmlns:a16="http://schemas.microsoft.com/office/drawing/2014/main" id="{3F43C598-A811-18D4-FFB7-3AB90A9EF29B}"/>
              </a:ext>
            </a:extLst>
          </p:cNvPr>
          <p:cNvSpPr>
            <a:spLocks noGrp="1"/>
          </p:cNvSpPr>
          <p:nvPr/>
        </p:nvSpPr>
        <p:spPr>
          <a:xfrm>
            <a:off x="3630769" y="2184633"/>
            <a:ext cx="2952750" cy="1428750"/>
          </a:xfrm>
          <a:prstGeom prst="rect">
            <a:avLst/>
          </a:prstGeom>
          <a:noFill/>
          <a:ln w="0">
            <a:noFill/>
          </a:ln>
        </p:spPr>
        <p:txBody>
          <a:bodyPr anchor="ctr">
            <a:normAutofit/>
          </a:bodyPr>
          <a:lstStyle/>
          <a:p>
            <a:pPr algn="ctr">
              <a:defRPr sz="1500" b="0">
                <a:solidFill>
                  <a:srgbClr val="242424"/>
                </a:solidFill>
                <a:latin typeface="Arial"/>
                <a:ea typeface="Arial"/>
                <a:cs typeface="Arial"/>
              </a:defRPr>
            </a:pPr>
            <a:r>
              <a:rPr sz="1500" b="0" dirty="0" err="1">
                <a:solidFill>
                  <a:srgbClr val="242424"/>
                </a:solidFill>
                <a:latin typeface="+mj-lt"/>
                <a:ea typeface="Arial"/>
                <a:cs typeface="Arial"/>
              </a:rPr>
              <a:t>HRV.series</a:t>
            </a:r>
            <a:r>
              <a:rPr sz="1500" b="0" dirty="0">
                <a:solidFill>
                  <a:srgbClr val="242424"/>
                </a:solidFill>
                <a:latin typeface="+mj-lt"/>
                <a:ea typeface="Arial"/>
                <a:cs typeface="Arial"/>
              </a:rPr>
              <a:t> è </a:t>
            </a:r>
            <a:r>
              <a:rPr sz="1500" b="0" dirty="0" err="1">
                <a:solidFill>
                  <a:srgbClr val="242424"/>
                </a:solidFill>
                <a:latin typeface="+mj-lt"/>
                <a:ea typeface="Arial"/>
                <a:cs typeface="Arial"/>
              </a:rPr>
              <a:t>una</a:t>
            </a:r>
            <a:r>
              <a:rPr sz="1500" b="0" dirty="0">
                <a:solidFill>
                  <a:srgbClr val="242424"/>
                </a:solidFill>
                <a:latin typeface="+mj-lt"/>
                <a:ea typeface="Arial"/>
                <a:cs typeface="Arial"/>
              </a:rPr>
              <a:t> </a:t>
            </a:r>
            <a:r>
              <a:rPr sz="1500" b="0" dirty="0" err="1">
                <a:solidFill>
                  <a:srgbClr val="242424"/>
                </a:solidFill>
                <a:latin typeface="+mj-lt"/>
                <a:ea typeface="Arial"/>
                <a:cs typeface="Arial"/>
              </a:rPr>
              <a:t>matrice</a:t>
            </a:r>
            <a:r>
              <a:rPr sz="1500" b="0" dirty="0">
                <a:solidFill>
                  <a:srgbClr val="242424"/>
                </a:solidFill>
                <a:latin typeface="+mj-lt"/>
                <a:ea typeface="Arial"/>
                <a:cs typeface="Arial"/>
              </a:rPr>
              <a:t> di </a:t>
            </a:r>
            <a:r>
              <a:rPr sz="1500" b="0" dirty="0" err="1">
                <a:solidFill>
                  <a:srgbClr val="242424"/>
                </a:solidFill>
                <a:latin typeface="+mj-lt"/>
                <a:ea typeface="Arial"/>
                <a:cs typeface="Arial"/>
              </a:rPr>
              <a:t>celle</a:t>
            </a:r>
            <a:r>
              <a:rPr sz="1500" b="0" dirty="0">
                <a:solidFill>
                  <a:srgbClr val="242424"/>
                </a:solidFill>
                <a:latin typeface="+mj-lt"/>
                <a:ea typeface="Arial"/>
                <a:cs typeface="Arial"/>
              </a:rPr>
              <a:t> 76 × 5. Ogni </a:t>
            </a:r>
            <a:r>
              <a:rPr sz="1500" b="0" dirty="0" err="1">
                <a:solidFill>
                  <a:srgbClr val="242424"/>
                </a:solidFill>
                <a:latin typeface="+mj-lt"/>
                <a:ea typeface="Arial"/>
                <a:cs typeface="Arial"/>
              </a:rPr>
              <a:t>cella</a:t>
            </a:r>
            <a:r>
              <a:rPr sz="1500" b="0" dirty="0">
                <a:solidFill>
                  <a:srgbClr val="242424"/>
                </a:solidFill>
                <a:latin typeface="+mj-lt"/>
                <a:ea typeface="Arial"/>
                <a:cs typeface="Arial"/>
              </a:rPr>
              <a:t> </a:t>
            </a:r>
            <a:r>
              <a:rPr sz="1500" b="0" dirty="0" err="1">
                <a:solidFill>
                  <a:srgbClr val="242424"/>
                </a:solidFill>
                <a:latin typeface="+mj-lt"/>
                <a:ea typeface="Arial"/>
                <a:cs typeface="Arial"/>
              </a:rPr>
              <a:t>contiene</a:t>
            </a:r>
            <a:r>
              <a:rPr sz="1500" b="0" dirty="0">
                <a:solidFill>
                  <a:srgbClr val="242424"/>
                </a:solidFill>
                <a:latin typeface="+mj-lt"/>
                <a:ea typeface="Arial"/>
                <a:cs typeface="Arial"/>
              </a:rPr>
              <a:t> due </a:t>
            </a:r>
            <a:r>
              <a:rPr sz="1500" b="0" dirty="0" err="1">
                <a:solidFill>
                  <a:srgbClr val="242424"/>
                </a:solidFill>
                <a:latin typeface="+mj-lt"/>
                <a:ea typeface="Arial"/>
                <a:cs typeface="Arial"/>
              </a:rPr>
              <a:t>colonne</a:t>
            </a:r>
            <a:r>
              <a:rPr sz="1500" b="0" dirty="0">
                <a:solidFill>
                  <a:srgbClr val="242424"/>
                </a:solidFill>
                <a:latin typeface="+mj-lt"/>
                <a:ea typeface="Arial"/>
                <a:cs typeface="Arial"/>
              </a:rPr>
              <a:t> di tempi </a:t>
            </a:r>
            <a:r>
              <a:rPr sz="1500" b="0" dirty="0" err="1">
                <a:solidFill>
                  <a:srgbClr val="242424"/>
                </a:solidFill>
                <a:latin typeface="+mj-lt"/>
                <a:ea typeface="Arial"/>
                <a:cs typeface="Arial"/>
              </a:rPr>
              <a:t>dei</a:t>
            </a:r>
            <a:r>
              <a:rPr sz="1500" b="0" dirty="0">
                <a:solidFill>
                  <a:srgbClr val="242424"/>
                </a:solidFill>
                <a:latin typeface="+mj-lt"/>
                <a:ea typeface="Arial"/>
                <a:cs typeface="Arial"/>
              </a:rPr>
              <a:t> </a:t>
            </a:r>
            <a:r>
              <a:rPr sz="1500" b="0" dirty="0" err="1">
                <a:solidFill>
                  <a:srgbClr val="242424"/>
                </a:solidFill>
                <a:latin typeface="+mj-lt"/>
                <a:ea typeface="Arial"/>
                <a:cs typeface="Arial"/>
              </a:rPr>
              <a:t>picchi</a:t>
            </a:r>
            <a:r>
              <a:rPr sz="1500" b="0" dirty="0">
                <a:solidFill>
                  <a:srgbClr val="242424"/>
                </a:solidFill>
                <a:latin typeface="+mj-lt"/>
                <a:ea typeface="Arial"/>
                <a:cs typeface="Arial"/>
              </a:rPr>
              <a:t>, </a:t>
            </a:r>
            <a:r>
              <a:rPr sz="1500" b="0" dirty="0" err="1">
                <a:solidFill>
                  <a:srgbClr val="242424"/>
                </a:solidFill>
                <a:latin typeface="+mj-lt"/>
                <a:ea typeface="Arial"/>
                <a:cs typeface="Arial"/>
              </a:rPr>
              <a:t>espresse</a:t>
            </a:r>
            <a:r>
              <a:rPr sz="1500" b="0" dirty="0">
                <a:solidFill>
                  <a:srgbClr val="242424"/>
                </a:solidFill>
                <a:latin typeface="+mj-lt"/>
                <a:ea typeface="Arial"/>
                <a:cs typeface="Arial"/>
              </a:rPr>
              <a:t> in secondi.</a:t>
            </a:r>
          </a:p>
        </p:txBody>
      </p:sp>
      <p:sp>
        <p:nvSpPr>
          <p:cNvPr id="9" name="Rettangolo 8">
            <a:extLst>
              <a:ext uri="{FF2B5EF4-FFF2-40B4-BE49-F238E27FC236}">
                <a16:creationId xmlns:a16="http://schemas.microsoft.com/office/drawing/2014/main" id="{8973970A-4036-D978-926D-3524B57D00EF}"/>
              </a:ext>
            </a:extLst>
          </p:cNvPr>
          <p:cNvSpPr>
            <a:spLocks noGrp="1"/>
          </p:cNvSpPr>
          <p:nvPr/>
        </p:nvSpPr>
        <p:spPr>
          <a:xfrm>
            <a:off x="3695539" y="1798553"/>
            <a:ext cx="2762250" cy="666750"/>
          </a:xfrm>
          <a:prstGeom prst="rect">
            <a:avLst/>
          </a:prstGeom>
          <a:noFill/>
          <a:ln w="0">
            <a:noFill/>
          </a:ln>
        </p:spPr>
        <p:txBody>
          <a:bodyPr anchor="ctr">
            <a:normAutofit/>
          </a:bodyPr>
          <a:lstStyle/>
          <a:p>
            <a:pPr algn="ctr">
              <a:defRPr sz="2475" b="1">
                <a:solidFill>
                  <a:srgbClr val="0077B5"/>
                </a:solidFill>
                <a:latin typeface="Arial"/>
                <a:ea typeface="Arial"/>
                <a:cs typeface="Arial"/>
              </a:defRPr>
            </a:pPr>
            <a:r>
              <a:rPr sz="2475" b="1" dirty="0">
                <a:solidFill>
                  <a:srgbClr val="0077B5"/>
                </a:solidFill>
                <a:latin typeface="+mj-lt"/>
                <a:ea typeface="Arial"/>
                <a:cs typeface="Arial"/>
              </a:rPr>
              <a:t>76 </a:t>
            </a:r>
            <a:r>
              <a:rPr sz="2475" b="1" dirty="0" err="1">
                <a:solidFill>
                  <a:srgbClr val="0077B5"/>
                </a:solidFill>
                <a:latin typeface="+mj-lt"/>
                <a:ea typeface="Arial"/>
                <a:cs typeface="Arial"/>
              </a:rPr>
              <a:t>soggetti</a:t>
            </a:r>
            <a:r>
              <a:rPr lang="it-IT" sz="2475" b="1" dirty="0">
                <a:solidFill>
                  <a:srgbClr val="0077B5"/>
                </a:solidFill>
                <a:latin typeface="+mj-lt"/>
                <a:ea typeface="Arial"/>
                <a:cs typeface="Arial"/>
              </a:rPr>
              <a:t> sani</a:t>
            </a:r>
            <a:endParaRPr sz="2475" b="1" dirty="0">
              <a:solidFill>
                <a:srgbClr val="0077B5"/>
              </a:solidFill>
              <a:latin typeface="+mj-lt"/>
              <a:ea typeface="Arial"/>
              <a:cs typeface="Arial"/>
            </a:endParaRPr>
          </a:p>
        </p:txBody>
      </p:sp>
      <p:sp>
        <p:nvSpPr>
          <p:cNvPr id="11" name="Rettangolo 10">
            <a:extLst>
              <a:ext uri="{FF2B5EF4-FFF2-40B4-BE49-F238E27FC236}">
                <a16:creationId xmlns:a16="http://schemas.microsoft.com/office/drawing/2014/main" id="{BF416428-AF43-FEBB-5A01-CBB3DA6A0BD9}"/>
              </a:ext>
            </a:extLst>
          </p:cNvPr>
          <p:cNvSpPr>
            <a:spLocks noGrp="1"/>
          </p:cNvSpPr>
          <p:nvPr/>
        </p:nvSpPr>
        <p:spPr>
          <a:xfrm>
            <a:off x="7632225" y="1614548"/>
            <a:ext cx="2476500" cy="857250"/>
          </a:xfrm>
          <a:prstGeom prst="rect">
            <a:avLst/>
          </a:prstGeom>
          <a:noFill/>
          <a:ln w="0">
            <a:noFill/>
          </a:ln>
        </p:spPr>
        <p:txBody>
          <a:bodyPr anchor="ctr">
            <a:normAutofit/>
          </a:bodyPr>
          <a:lstStyle/>
          <a:p>
            <a:pPr algn="ctr">
              <a:defRPr sz="1800" b="1">
                <a:solidFill>
                  <a:srgbClr val="0077B5"/>
                </a:solidFill>
                <a:latin typeface="Arial"/>
                <a:ea typeface="Arial"/>
                <a:cs typeface="Arial"/>
              </a:defRPr>
            </a:pPr>
            <a:r>
              <a:rPr sz="1800" b="1" dirty="0">
                <a:solidFill>
                  <a:srgbClr val="0077B5"/>
                </a:solidFill>
                <a:latin typeface="+mj-lt"/>
                <a:ea typeface="Arial"/>
                <a:cs typeface="Arial"/>
              </a:rPr>
              <a:t>1ª </a:t>
            </a:r>
            <a:r>
              <a:rPr sz="1800" b="1" dirty="0" err="1">
                <a:solidFill>
                  <a:srgbClr val="0077B5"/>
                </a:solidFill>
                <a:latin typeface="+mj-lt"/>
                <a:ea typeface="Arial"/>
                <a:cs typeface="Arial"/>
              </a:rPr>
              <a:t>colonna</a:t>
            </a:r>
            <a:endParaRPr sz="1800" b="1" dirty="0">
              <a:solidFill>
                <a:srgbClr val="0077B5"/>
              </a:solidFill>
              <a:latin typeface="+mj-lt"/>
              <a:ea typeface="Arial"/>
              <a:cs typeface="Arial"/>
            </a:endParaRPr>
          </a:p>
          <a:p>
            <a:pPr algn="ctr">
              <a:defRPr sz="1800" b="1">
                <a:solidFill>
                  <a:srgbClr val="0077B5"/>
                </a:solidFill>
                <a:latin typeface="Arial"/>
                <a:ea typeface="Arial"/>
                <a:cs typeface="Arial"/>
              </a:defRPr>
            </a:pPr>
            <a:r>
              <a:rPr sz="1800" b="1" dirty="0">
                <a:solidFill>
                  <a:srgbClr val="0077B5"/>
                </a:solidFill>
                <a:latin typeface="+mj-lt"/>
                <a:ea typeface="Arial"/>
                <a:cs typeface="Arial"/>
              </a:rPr>
              <a:t>Picchi R ECG</a:t>
            </a:r>
          </a:p>
        </p:txBody>
      </p:sp>
      <p:sp>
        <p:nvSpPr>
          <p:cNvPr id="13" name="Rettangolo 12">
            <a:extLst>
              <a:ext uri="{FF2B5EF4-FFF2-40B4-BE49-F238E27FC236}">
                <a16:creationId xmlns:a16="http://schemas.microsoft.com/office/drawing/2014/main" id="{ADCC5732-CB8F-9938-74CA-3367E33E0684}"/>
              </a:ext>
            </a:extLst>
          </p:cNvPr>
          <p:cNvSpPr>
            <a:spLocks noGrp="1"/>
          </p:cNvSpPr>
          <p:nvPr/>
        </p:nvSpPr>
        <p:spPr>
          <a:xfrm>
            <a:off x="7393779" y="2761213"/>
            <a:ext cx="2857500" cy="857250"/>
          </a:xfrm>
          <a:prstGeom prst="rect">
            <a:avLst/>
          </a:prstGeom>
          <a:noFill/>
          <a:ln w="0">
            <a:noFill/>
          </a:ln>
        </p:spPr>
        <p:txBody>
          <a:bodyPr anchor="ctr">
            <a:normAutofit/>
          </a:bodyPr>
          <a:lstStyle/>
          <a:p>
            <a:pPr algn="ctr">
              <a:defRPr sz="1800" b="1">
                <a:solidFill>
                  <a:srgbClr val="E85D04"/>
                </a:solidFill>
                <a:latin typeface="Arial"/>
                <a:ea typeface="Arial"/>
                <a:cs typeface="Arial"/>
              </a:defRPr>
            </a:pPr>
            <a:r>
              <a:rPr sz="1800" b="1">
                <a:solidFill>
                  <a:srgbClr val="E85D04"/>
                </a:solidFill>
                <a:latin typeface="+mj-lt"/>
                <a:ea typeface="Arial"/>
                <a:cs typeface="Arial"/>
              </a:rPr>
              <a:t>2ª colonna</a:t>
            </a:r>
          </a:p>
          <a:p>
            <a:pPr algn="ctr">
              <a:defRPr sz="1800" b="1">
                <a:solidFill>
                  <a:srgbClr val="E85D04"/>
                </a:solidFill>
                <a:latin typeface="Arial"/>
                <a:ea typeface="Arial"/>
                <a:cs typeface="Arial"/>
              </a:defRPr>
            </a:pPr>
            <a:r>
              <a:rPr sz="1800" b="1">
                <a:solidFill>
                  <a:srgbClr val="E85D04"/>
                </a:solidFill>
                <a:latin typeface="+mj-lt"/>
                <a:ea typeface="Arial"/>
                <a:cs typeface="Arial"/>
              </a:rPr>
              <a:t>Picchi periferici</a:t>
            </a:r>
          </a:p>
        </p:txBody>
      </p:sp>
      <p:sp>
        <p:nvSpPr>
          <p:cNvPr id="15" name="Rettangolo 14">
            <a:extLst>
              <a:ext uri="{FF2B5EF4-FFF2-40B4-BE49-F238E27FC236}">
                <a16:creationId xmlns:a16="http://schemas.microsoft.com/office/drawing/2014/main" id="{76087CCE-3312-37F7-2F77-219B1989D3AC}"/>
              </a:ext>
            </a:extLst>
          </p:cNvPr>
          <p:cNvSpPr>
            <a:spLocks noGrp="1"/>
          </p:cNvSpPr>
          <p:nvPr/>
        </p:nvSpPr>
        <p:spPr>
          <a:xfrm>
            <a:off x="4216978" y="3953398"/>
            <a:ext cx="3810000" cy="400050"/>
          </a:xfrm>
          <a:prstGeom prst="rect">
            <a:avLst/>
          </a:prstGeom>
          <a:noFill/>
          <a:ln w="0">
            <a:noFill/>
          </a:ln>
        </p:spPr>
        <p:txBody>
          <a:bodyPr anchor="ctr">
            <a:normAutofit/>
          </a:bodyPr>
          <a:lstStyle/>
          <a:p>
            <a:pPr algn="ctr">
              <a:defRPr sz="1950" b="1">
                <a:solidFill>
                  <a:srgbClr val="242424"/>
                </a:solidFill>
                <a:latin typeface="Arial"/>
                <a:ea typeface="Arial"/>
                <a:cs typeface="Arial"/>
              </a:defRPr>
            </a:pPr>
            <a:r>
              <a:rPr sz="1950" b="1">
                <a:solidFill>
                  <a:srgbClr val="242424"/>
                </a:solidFill>
                <a:latin typeface="+mj-lt"/>
                <a:ea typeface="Arial"/>
                <a:cs typeface="Arial"/>
              </a:rPr>
              <a:t>Protocollo sperimentale</a:t>
            </a:r>
          </a:p>
        </p:txBody>
      </p:sp>
      <p:sp>
        <p:nvSpPr>
          <p:cNvPr id="19" name="Connettore diritto 18">
            <a:extLst>
              <a:ext uri="{FF2B5EF4-FFF2-40B4-BE49-F238E27FC236}">
                <a16:creationId xmlns:a16="http://schemas.microsoft.com/office/drawing/2014/main" id="{97783082-41B2-E422-EDFB-4B553B2E5689}"/>
              </a:ext>
            </a:extLst>
          </p:cNvPr>
          <p:cNvSpPr>
            <a:spLocks noGrp="1"/>
          </p:cNvSpPr>
          <p:nvPr/>
        </p:nvSpPr>
        <p:spPr>
          <a:xfrm>
            <a:off x="1381126" y="4921531"/>
            <a:ext cx="9429750" cy="0"/>
          </a:xfrm>
          <a:prstGeom prst="line">
            <a:avLst/>
          </a:prstGeom>
          <a:noFill/>
          <a:ln w="38100">
            <a:solidFill>
              <a:srgbClr val="123047"/>
            </a:solidFill>
            <a:prstDash val="solid"/>
          </a:ln>
        </p:spPr>
        <p:txBody>
          <a:bodyPr/>
          <a:lstStyle/>
          <a:p>
            <a:endParaRPr lang="it-IT">
              <a:latin typeface="+mj-lt"/>
            </a:endParaRPr>
          </a:p>
        </p:txBody>
      </p:sp>
      <p:sp>
        <p:nvSpPr>
          <p:cNvPr id="21" name="Ovale 20">
            <a:extLst>
              <a:ext uri="{FF2B5EF4-FFF2-40B4-BE49-F238E27FC236}">
                <a16:creationId xmlns:a16="http://schemas.microsoft.com/office/drawing/2014/main" id="{4A362199-4A25-4269-99F9-890823FB77DC}"/>
              </a:ext>
            </a:extLst>
          </p:cNvPr>
          <p:cNvSpPr>
            <a:spLocks noGrp="1"/>
          </p:cNvSpPr>
          <p:nvPr/>
        </p:nvSpPr>
        <p:spPr>
          <a:xfrm>
            <a:off x="1362076" y="4759606"/>
            <a:ext cx="323850" cy="323850"/>
          </a:xfrm>
          <a:prstGeom prst="ellipse">
            <a:avLst/>
          </a:prstGeom>
          <a:solidFill>
            <a:srgbClr val="0077B5"/>
          </a:solidFill>
          <a:ln w="19050">
            <a:solidFill>
              <a:srgbClr val="FFFFFF"/>
            </a:solidFill>
            <a:prstDash val="solid"/>
          </a:ln>
        </p:spPr>
        <p:txBody>
          <a:bodyPr/>
          <a:lstStyle/>
          <a:p>
            <a:endParaRPr lang="it-IT">
              <a:latin typeface="+mj-lt"/>
            </a:endParaRPr>
          </a:p>
        </p:txBody>
      </p:sp>
      <p:sp>
        <p:nvSpPr>
          <p:cNvPr id="23" name="Rettangolo 22">
            <a:extLst>
              <a:ext uri="{FF2B5EF4-FFF2-40B4-BE49-F238E27FC236}">
                <a16:creationId xmlns:a16="http://schemas.microsoft.com/office/drawing/2014/main" id="{F7DBA3FF-5E0D-0906-1549-374052833EF2}"/>
              </a:ext>
            </a:extLst>
          </p:cNvPr>
          <p:cNvSpPr>
            <a:spLocks noGrp="1"/>
          </p:cNvSpPr>
          <p:nvPr/>
        </p:nvSpPr>
        <p:spPr>
          <a:xfrm>
            <a:off x="714376" y="5207281"/>
            <a:ext cx="1619250" cy="400050"/>
          </a:xfrm>
          <a:prstGeom prst="rect">
            <a:avLst/>
          </a:prstGeom>
          <a:noFill/>
          <a:ln w="0">
            <a:noFill/>
          </a:ln>
        </p:spPr>
        <p:txBody>
          <a:bodyPr anchor="ctr">
            <a:normAutofit/>
          </a:bodyPr>
          <a:lstStyle/>
          <a:p>
            <a:pPr algn="ctr">
              <a:defRPr sz="1425" b="1">
                <a:solidFill>
                  <a:srgbClr val="123047"/>
                </a:solidFill>
                <a:latin typeface="Arial"/>
                <a:ea typeface="Arial"/>
                <a:cs typeface="Arial"/>
              </a:defRPr>
            </a:pPr>
            <a:r>
              <a:rPr sz="1425" b="1">
                <a:solidFill>
                  <a:srgbClr val="123047"/>
                </a:solidFill>
                <a:latin typeface="+mj-lt"/>
                <a:ea typeface="Arial"/>
                <a:cs typeface="Arial"/>
              </a:rPr>
              <a:t>REST R1</a:t>
            </a:r>
          </a:p>
        </p:txBody>
      </p:sp>
      <p:sp>
        <p:nvSpPr>
          <p:cNvPr id="25" name="Ovale 24">
            <a:extLst>
              <a:ext uri="{FF2B5EF4-FFF2-40B4-BE49-F238E27FC236}">
                <a16:creationId xmlns:a16="http://schemas.microsoft.com/office/drawing/2014/main" id="{9C1DBD43-114C-F0BA-CC51-AC422C317033}"/>
              </a:ext>
            </a:extLst>
          </p:cNvPr>
          <p:cNvSpPr>
            <a:spLocks noGrp="1"/>
          </p:cNvSpPr>
          <p:nvPr/>
        </p:nvSpPr>
        <p:spPr>
          <a:xfrm>
            <a:off x="3648076" y="4759606"/>
            <a:ext cx="323850" cy="323850"/>
          </a:xfrm>
          <a:prstGeom prst="ellipse">
            <a:avLst/>
          </a:prstGeom>
          <a:solidFill>
            <a:srgbClr val="0077B5"/>
          </a:solidFill>
          <a:ln w="19050">
            <a:solidFill>
              <a:srgbClr val="FFFFFF"/>
            </a:solidFill>
            <a:prstDash val="solid"/>
          </a:ln>
        </p:spPr>
        <p:txBody>
          <a:bodyPr/>
          <a:lstStyle/>
          <a:p>
            <a:endParaRPr lang="it-IT">
              <a:latin typeface="+mj-lt"/>
            </a:endParaRPr>
          </a:p>
        </p:txBody>
      </p:sp>
      <p:sp>
        <p:nvSpPr>
          <p:cNvPr id="27" name="Rettangolo 26">
            <a:extLst>
              <a:ext uri="{FF2B5EF4-FFF2-40B4-BE49-F238E27FC236}">
                <a16:creationId xmlns:a16="http://schemas.microsoft.com/office/drawing/2014/main" id="{0468108E-F356-1CF9-E425-B3454365D1C1}"/>
              </a:ext>
            </a:extLst>
          </p:cNvPr>
          <p:cNvSpPr>
            <a:spLocks noGrp="1"/>
          </p:cNvSpPr>
          <p:nvPr/>
        </p:nvSpPr>
        <p:spPr>
          <a:xfrm>
            <a:off x="3000376" y="5207281"/>
            <a:ext cx="1619250" cy="400050"/>
          </a:xfrm>
          <a:prstGeom prst="rect">
            <a:avLst/>
          </a:prstGeom>
          <a:noFill/>
          <a:ln w="0">
            <a:noFill/>
          </a:ln>
        </p:spPr>
        <p:txBody>
          <a:bodyPr anchor="ctr">
            <a:normAutofit/>
          </a:bodyPr>
          <a:lstStyle/>
          <a:p>
            <a:pPr algn="ctr">
              <a:defRPr sz="1425" b="1">
                <a:solidFill>
                  <a:srgbClr val="123047"/>
                </a:solidFill>
                <a:latin typeface="Arial"/>
                <a:ea typeface="Arial"/>
                <a:cs typeface="Arial"/>
              </a:defRPr>
            </a:pPr>
            <a:r>
              <a:rPr sz="1425" b="1">
                <a:solidFill>
                  <a:srgbClr val="123047"/>
                </a:solidFill>
                <a:latin typeface="+mj-lt"/>
                <a:ea typeface="Arial"/>
                <a:cs typeface="Arial"/>
              </a:rPr>
              <a:t>TILT</a:t>
            </a:r>
          </a:p>
        </p:txBody>
      </p:sp>
      <p:sp>
        <p:nvSpPr>
          <p:cNvPr id="29" name="Ovale 28">
            <a:extLst>
              <a:ext uri="{FF2B5EF4-FFF2-40B4-BE49-F238E27FC236}">
                <a16:creationId xmlns:a16="http://schemas.microsoft.com/office/drawing/2014/main" id="{B6BA9DD5-2C91-AF34-E819-D0200495841D}"/>
              </a:ext>
            </a:extLst>
          </p:cNvPr>
          <p:cNvSpPr>
            <a:spLocks noGrp="1"/>
          </p:cNvSpPr>
          <p:nvPr/>
        </p:nvSpPr>
        <p:spPr>
          <a:xfrm>
            <a:off x="5934076" y="4759606"/>
            <a:ext cx="323850" cy="323850"/>
          </a:xfrm>
          <a:prstGeom prst="ellipse">
            <a:avLst/>
          </a:prstGeom>
          <a:solidFill>
            <a:srgbClr val="B6C7D2"/>
          </a:solidFill>
          <a:ln w="19050">
            <a:solidFill>
              <a:srgbClr val="FFFFFF"/>
            </a:solidFill>
            <a:prstDash val="solid"/>
          </a:ln>
        </p:spPr>
        <p:txBody>
          <a:bodyPr/>
          <a:lstStyle/>
          <a:p>
            <a:endParaRPr lang="it-IT">
              <a:latin typeface="+mj-lt"/>
            </a:endParaRPr>
          </a:p>
        </p:txBody>
      </p:sp>
      <p:sp>
        <p:nvSpPr>
          <p:cNvPr id="31" name="Rettangolo 30">
            <a:extLst>
              <a:ext uri="{FF2B5EF4-FFF2-40B4-BE49-F238E27FC236}">
                <a16:creationId xmlns:a16="http://schemas.microsoft.com/office/drawing/2014/main" id="{388027DD-660A-313F-CE28-59CA7257BC4D}"/>
              </a:ext>
            </a:extLst>
          </p:cNvPr>
          <p:cNvSpPr>
            <a:spLocks noGrp="1"/>
          </p:cNvSpPr>
          <p:nvPr/>
        </p:nvSpPr>
        <p:spPr>
          <a:xfrm>
            <a:off x="5286376" y="5207281"/>
            <a:ext cx="1619250" cy="400050"/>
          </a:xfrm>
          <a:prstGeom prst="rect">
            <a:avLst/>
          </a:prstGeom>
          <a:noFill/>
          <a:ln w="0">
            <a:noFill/>
          </a:ln>
        </p:spPr>
        <p:txBody>
          <a:bodyPr anchor="ctr">
            <a:normAutofit/>
          </a:bodyPr>
          <a:lstStyle/>
          <a:p>
            <a:pPr algn="ctr">
              <a:defRPr sz="1425" b="0">
                <a:solidFill>
                  <a:srgbClr val="5B6570"/>
                </a:solidFill>
                <a:latin typeface="Arial"/>
                <a:ea typeface="Arial"/>
                <a:cs typeface="Arial"/>
              </a:defRPr>
            </a:pPr>
            <a:r>
              <a:rPr sz="1425" b="0">
                <a:solidFill>
                  <a:srgbClr val="5B6570"/>
                </a:solidFill>
                <a:latin typeface="+mj-lt"/>
                <a:ea typeface="Arial"/>
                <a:cs typeface="Arial"/>
              </a:rPr>
              <a:t>REST R2</a:t>
            </a:r>
          </a:p>
        </p:txBody>
      </p:sp>
      <p:sp>
        <p:nvSpPr>
          <p:cNvPr id="33" name="Ovale 32">
            <a:extLst>
              <a:ext uri="{FF2B5EF4-FFF2-40B4-BE49-F238E27FC236}">
                <a16:creationId xmlns:a16="http://schemas.microsoft.com/office/drawing/2014/main" id="{DD2FA413-B576-2DE0-89FF-53BFC3CD320A}"/>
              </a:ext>
            </a:extLst>
          </p:cNvPr>
          <p:cNvSpPr>
            <a:spLocks noGrp="1"/>
          </p:cNvSpPr>
          <p:nvPr/>
        </p:nvSpPr>
        <p:spPr>
          <a:xfrm>
            <a:off x="8220076" y="4759606"/>
            <a:ext cx="323850" cy="323850"/>
          </a:xfrm>
          <a:prstGeom prst="ellipse">
            <a:avLst/>
          </a:prstGeom>
          <a:solidFill>
            <a:srgbClr val="0077B5"/>
          </a:solidFill>
          <a:ln w="19050">
            <a:solidFill>
              <a:srgbClr val="FFFFFF"/>
            </a:solidFill>
            <a:prstDash val="solid"/>
          </a:ln>
        </p:spPr>
        <p:txBody>
          <a:bodyPr/>
          <a:lstStyle/>
          <a:p>
            <a:endParaRPr lang="it-IT">
              <a:latin typeface="+mj-lt"/>
            </a:endParaRPr>
          </a:p>
        </p:txBody>
      </p:sp>
      <p:sp>
        <p:nvSpPr>
          <p:cNvPr id="35" name="Rettangolo 34">
            <a:extLst>
              <a:ext uri="{FF2B5EF4-FFF2-40B4-BE49-F238E27FC236}">
                <a16:creationId xmlns:a16="http://schemas.microsoft.com/office/drawing/2014/main" id="{241329E5-5610-8892-4433-8DB100D48783}"/>
              </a:ext>
            </a:extLst>
          </p:cNvPr>
          <p:cNvSpPr>
            <a:spLocks noGrp="1"/>
          </p:cNvSpPr>
          <p:nvPr/>
        </p:nvSpPr>
        <p:spPr>
          <a:xfrm>
            <a:off x="7572376" y="5207281"/>
            <a:ext cx="1619250" cy="400050"/>
          </a:xfrm>
          <a:prstGeom prst="rect">
            <a:avLst/>
          </a:prstGeom>
          <a:noFill/>
          <a:ln w="0">
            <a:noFill/>
          </a:ln>
        </p:spPr>
        <p:txBody>
          <a:bodyPr anchor="ctr">
            <a:normAutofit/>
          </a:bodyPr>
          <a:lstStyle/>
          <a:p>
            <a:pPr algn="ctr">
              <a:defRPr sz="1425" b="1">
                <a:solidFill>
                  <a:srgbClr val="123047"/>
                </a:solidFill>
                <a:latin typeface="Arial"/>
                <a:ea typeface="Arial"/>
                <a:cs typeface="Arial"/>
              </a:defRPr>
            </a:pPr>
            <a:r>
              <a:rPr sz="1425" b="1">
                <a:solidFill>
                  <a:srgbClr val="123047"/>
                </a:solidFill>
                <a:latin typeface="+mj-lt"/>
                <a:ea typeface="Arial"/>
                <a:cs typeface="Arial"/>
              </a:rPr>
              <a:t>MENTAL</a:t>
            </a:r>
          </a:p>
        </p:txBody>
      </p:sp>
      <p:sp>
        <p:nvSpPr>
          <p:cNvPr id="37" name="Ovale 36">
            <a:extLst>
              <a:ext uri="{FF2B5EF4-FFF2-40B4-BE49-F238E27FC236}">
                <a16:creationId xmlns:a16="http://schemas.microsoft.com/office/drawing/2014/main" id="{562975F1-3B3A-BF7B-F835-70FE982BB12B}"/>
              </a:ext>
            </a:extLst>
          </p:cNvPr>
          <p:cNvSpPr>
            <a:spLocks noGrp="1"/>
          </p:cNvSpPr>
          <p:nvPr/>
        </p:nvSpPr>
        <p:spPr>
          <a:xfrm>
            <a:off x="10506076" y="4759606"/>
            <a:ext cx="323850" cy="323850"/>
          </a:xfrm>
          <a:prstGeom prst="ellipse">
            <a:avLst/>
          </a:prstGeom>
          <a:solidFill>
            <a:srgbClr val="B6C7D2"/>
          </a:solidFill>
          <a:ln w="19050">
            <a:solidFill>
              <a:srgbClr val="FFFFFF"/>
            </a:solidFill>
            <a:prstDash val="solid"/>
          </a:ln>
        </p:spPr>
        <p:txBody>
          <a:bodyPr/>
          <a:lstStyle/>
          <a:p>
            <a:endParaRPr lang="it-IT">
              <a:latin typeface="+mj-lt"/>
            </a:endParaRPr>
          </a:p>
        </p:txBody>
      </p:sp>
      <p:sp>
        <p:nvSpPr>
          <p:cNvPr id="39" name="Rettangolo 38">
            <a:extLst>
              <a:ext uri="{FF2B5EF4-FFF2-40B4-BE49-F238E27FC236}">
                <a16:creationId xmlns:a16="http://schemas.microsoft.com/office/drawing/2014/main" id="{01650666-71C0-B516-64AB-46CA271414AD}"/>
              </a:ext>
            </a:extLst>
          </p:cNvPr>
          <p:cNvSpPr>
            <a:spLocks noGrp="1"/>
          </p:cNvSpPr>
          <p:nvPr/>
        </p:nvSpPr>
        <p:spPr>
          <a:xfrm>
            <a:off x="9858376" y="5207281"/>
            <a:ext cx="1619250" cy="400050"/>
          </a:xfrm>
          <a:prstGeom prst="rect">
            <a:avLst/>
          </a:prstGeom>
          <a:noFill/>
          <a:ln w="0">
            <a:noFill/>
          </a:ln>
        </p:spPr>
        <p:txBody>
          <a:bodyPr anchor="ctr">
            <a:normAutofit/>
          </a:bodyPr>
          <a:lstStyle/>
          <a:p>
            <a:pPr algn="ctr">
              <a:defRPr sz="1425" b="0">
                <a:solidFill>
                  <a:srgbClr val="5B6570"/>
                </a:solidFill>
                <a:latin typeface="Arial"/>
                <a:ea typeface="Arial"/>
                <a:cs typeface="Arial"/>
              </a:defRPr>
            </a:pPr>
            <a:r>
              <a:rPr sz="1425" b="0">
                <a:solidFill>
                  <a:srgbClr val="5B6570"/>
                </a:solidFill>
                <a:latin typeface="+mj-lt"/>
                <a:ea typeface="Arial"/>
                <a:cs typeface="Arial"/>
              </a:rPr>
              <a:t>REST R3</a:t>
            </a:r>
          </a:p>
        </p:txBody>
      </p:sp>
      <p:sp>
        <p:nvSpPr>
          <p:cNvPr id="52" name="Rettangolo 51">
            <a:extLst>
              <a:ext uri="{FF2B5EF4-FFF2-40B4-BE49-F238E27FC236}">
                <a16:creationId xmlns:a16="http://schemas.microsoft.com/office/drawing/2014/main" id="{BF30DD5F-05DF-59FD-8185-B2610AA29DDA}"/>
              </a:ext>
            </a:extLst>
          </p:cNvPr>
          <p:cNvSpPr>
            <a:spLocks noGrp="1"/>
          </p:cNvSpPr>
          <p:nvPr/>
        </p:nvSpPr>
        <p:spPr>
          <a:xfrm>
            <a:off x="2525451" y="5754668"/>
            <a:ext cx="7048500" cy="533400"/>
          </a:xfrm>
          <a:prstGeom prst="rect">
            <a:avLst/>
          </a:prstGeom>
          <a:noFill/>
          <a:ln w="0">
            <a:noFill/>
          </a:ln>
        </p:spPr>
        <p:txBody>
          <a:bodyPr anchor="ctr">
            <a:normAutofit/>
          </a:bodyPr>
          <a:lstStyle/>
          <a:p>
            <a:pPr algn="ctr">
              <a:defRPr sz="1875" b="1">
                <a:solidFill>
                  <a:srgbClr val="E85D04"/>
                </a:solidFill>
                <a:latin typeface="Arial"/>
                <a:ea typeface="Arial"/>
                <a:cs typeface="Arial"/>
              </a:defRPr>
            </a:pPr>
            <a:r>
              <a:rPr sz="1875" b="1">
                <a:solidFill>
                  <a:srgbClr val="E85D04"/>
                </a:solidFill>
                <a:latin typeface="+mj-lt"/>
                <a:ea typeface="Arial"/>
                <a:cs typeface="Arial"/>
              </a:rPr>
              <a:t>Analisi principale: REST, TILT e MENTAL ARITHMETIC</a:t>
            </a:r>
          </a:p>
        </p:txBody>
      </p:sp>
    </p:spTree>
    <p:extLst>
      <p:ext uri="{BB962C8B-B14F-4D97-AF65-F5344CB8AC3E}">
        <p14:creationId xmlns:p14="http://schemas.microsoft.com/office/powerpoint/2010/main" val="3293724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6CAF38-9D7F-4639-0A91-798615BD131F}"/>
              </a:ext>
            </a:extLst>
          </p:cNvPr>
          <p:cNvSpPr>
            <a:spLocks noGrp="1"/>
          </p:cNvSpPr>
          <p:nvPr>
            <p:ph type="title"/>
          </p:nvPr>
        </p:nvSpPr>
        <p:spPr/>
        <p:txBody>
          <a:bodyPr/>
          <a:lstStyle/>
          <a:p>
            <a:r>
              <a:rPr lang="it-IT" dirty="0"/>
              <a:t>OBIETTIVO DELLO STUDIO</a:t>
            </a:r>
          </a:p>
        </p:txBody>
      </p:sp>
      <p:sp>
        <p:nvSpPr>
          <p:cNvPr id="5" name="CasellaDiTesto 4">
            <a:extLst>
              <a:ext uri="{FF2B5EF4-FFF2-40B4-BE49-F238E27FC236}">
                <a16:creationId xmlns:a16="http://schemas.microsoft.com/office/drawing/2014/main" id="{8281F981-F125-B36F-5397-EAEA3ED8FBE1}"/>
              </a:ext>
            </a:extLst>
          </p:cNvPr>
          <p:cNvSpPr txBox="1"/>
          <p:nvPr/>
        </p:nvSpPr>
        <p:spPr>
          <a:xfrm>
            <a:off x="1238490" y="1656849"/>
            <a:ext cx="9641711" cy="807913"/>
          </a:xfrm>
          <a:prstGeom prst="rect">
            <a:avLst/>
          </a:prstGeom>
          <a:noFill/>
        </p:spPr>
        <p:txBody>
          <a:bodyPr wrap="square">
            <a:spAutoFit/>
          </a:bodyPr>
          <a:lstStyle/>
          <a:p>
            <a:pPr algn="ctr">
              <a:defRPr sz="2325" b="1">
                <a:solidFill>
                  <a:srgbClr val="123047"/>
                </a:solidFill>
                <a:latin typeface="Arial"/>
                <a:ea typeface="Arial"/>
                <a:cs typeface="Arial"/>
              </a:defRPr>
            </a:pPr>
            <a:r>
              <a:rPr lang="it-IT" sz="2325" b="1" dirty="0">
                <a:solidFill>
                  <a:srgbClr val="123047"/>
                </a:solidFill>
                <a:latin typeface="+mj-lt"/>
                <a:ea typeface="Arial"/>
                <a:cs typeface="Arial"/>
              </a:rPr>
              <a:t>In che misura la serie PPI può sostituire la serie RRI nello studio della dinamica cardiovascolare?</a:t>
            </a:r>
          </a:p>
        </p:txBody>
      </p:sp>
      <p:sp>
        <p:nvSpPr>
          <p:cNvPr id="7" name="Rettangolo 6">
            <a:extLst>
              <a:ext uri="{FF2B5EF4-FFF2-40B4-BE49-F238E27FC236}">
                <a16:creationId xmlns:a16="http://schemas.microsoft.com/office/drawing/2014/main" id="{B91E529A-8EA4-9581-66DC-FA3F31023C42}"/>
              </a:ext>
            </a:extLst>
          </p:cNvPr>
          <p:cNvSpPr>
            <a:spLocks noGrp="1"/>
          </p:cNvSpPr>
          <p:nvPr/>
        </p:nvSpPr>
        <p:spPr>
          <a:xfrm>
            <a:off x="1238250" y="2667000"/>
            <a:ext cx="3048000" cy="400050"/>
          </a:xfrm>
          <a:prstGeom prst="rect">
            <a:avLst/>
          </a:prstGeom>
          <a:noFill/>
          <a:ln w="0">
            <a:noFill/>
          </a:ln>
        </p:spPr>
        <p:txBody>
          <a:bodyPr anchor="ctr">
            <a:normAutofit/>
          </a:bodyPr>
          <a:lstStyle/>
          <a:p>
            <a:pPr algn="l">
              <a:defRPr sz="1650" b="1">
                <a:solidFill>
                  <a:srgbClr val="0077B5"/>
                </a:solidFill>
                <a:latin typeface="Arial"/>
                <a:ea typeface="Arial"/>
                <a:cs typeface="Arial"/>
              </a:defRPr>
            </a:pPr>
            <a:r>
              <a:rPr sz="1650" b="1">
                <a:solidFill>
                  <a:srgbClr val="0077B5"/>
                </a:solidFill>
                <a:latin typeface="+mj-lt"/>
                <a:ea typeface="Arial"/>
                <a:cs typeface="Arial"/>
              </a:rPr>
              <a:t>Somiglianza temporale</a:t>
            </a:r>
          </a:p>
        </p:txBody>
      </p:sp>
      <p:sp>
        <p:nvSpPr>
          <p:cNvPr id="9" name="Rettangolo 8">
            <a:extLst>
              <a:ext uri="{FF2B5EF4-FFF2-40B4-BE49-F238E27FC236}">
                <a16:creationId xmlns:a16="http://schemas.microsoft.com/office/drawing/2014/main" id="{A2DD415D-B3B9-FCCE-8DBC-1D6212DED74D}"/>
              </a:ext>
            </a:extLst>
          </p:cNvPr>
          <p:cNvSpPr>
            <a:spLocks noGrp="1"/>
          </p:cNvSpPr>
          <p:nvPr/>
        </p:nvSpPr>
        <p:spPr>
          <a:xfrm>
            <a:off x="4572000" y="2667000"/>
            <a:ext cx="6191250" cy="400050"/>
          </a:xfrm>
          <a:prstGeom prst="rect">
            <a:avLst/>
          </a:prstGeom>
          <a:noFill/>
          <a:ln w="0">
            <a:noFill/>
          </a:ln>
        </p:spPr>
        <p:txBody>
          <a:bodyPr anchor="ctr">
            <a:normAutofit/>
          </a:bodyPr>
          <a:lstStyle/>
          <a:p>
            <a:pPr algn="l">
              <a:defRPr sz="1575" b="0">
                <a:solidFill>
                  <a:srgbClr val="242424"/>
                </a:solidFill>
                <a:latin typeface="Arial"/>
                <a:ea typeface="Arial"/>
                <a:cs typeface="Arial"/>
              </a:defRPr>
            </a:pPr>
            <a:r>
              <a:rPr sz="1575" b="0">
                <a:solidFill>
                  <a:srgbClr val="242424"/>
                </a:solidFill>
                <a:latin typeface="+mj-lt"/>
                <a:ea typeface="Arial"/>
                <a:cs typeface="Arial"/>
              </a:rPr>
              <a:t>Visualizzazione delle serie RRI e PPI</a:t>
            </a:r>
          </a:p>
        </p:txBody>
      </p:sp>
      <p:sp>
        <p:nvSpPr>
          <p:cNvPr id="11" name="Rettangolo 10">
            <a:extLst>
              <a:ext uri="{FF2B5EF4-FFF2-40B4-BE49-F238E27FC236}">
                <a16:creationId xmlns:a16="http://schemas.microsoft.com/office/drawing/2014/main" id="{5DA82FDB-764D-B641-CB14-FD7FFA0F317A}"/>
              </a:ext>
            </a:extLst>
          </p:cNvPr>
          <p:cNvSpPr>
            <a:spLocks noGrp="1"/>
          </p:cNvSpPr>
          <p:nvPr/>
        </p:nvSpPr>
        <p:spPr>
          <a:xfrm>
            <a:off x="1238250" y="3486150"/>
            <a:ext cx="3048000" cy="400050"/>
          </a:xfrm>
          <a:prstGeom prst="rect">
            <a:avLst/>
          </a:prstGeom>
          <a:noFill/>
          <a:ln w="0">
            <a:noFill/>
          </a:ln>
        </p:spPr>
        <p:txBody>
          <a:bodyPr anchor="ctr">
            <a:normAutofit/>
          </a:bodyPr>
          <a:lstStyle/>
          <a:p>
            <a:pPr algn="l">
              <a:defRPr sz="1650" b="1">
                <a:solidFill>
                  <a:srgbClr val="E85D04"/>
                </a:solidFill>
                <a:latin typeface="Arial"/>
                <a:ea typeface="Arial"/>
                <a:cs typeface="Arial"/>
              </a:defRPr>
            </a:pPr>
            <a:r>
              <a:rPr sz="1650" b="1">
                <a:solidFill>
                  <a:srgbClr val="E85D04"/>
                </a:solidFill>
                <a:latin typeface="+mj-lt"/>
                <a:ea typeface="Arial"/>
                <a:cs typeface="Arial"/>
              </a:rPr>
              <a:t>Componente periferica</a:t>
            </a:r>
          </a:p>
        </p:txBody>
      </p:sp>
      <p:sp>
        <p:nvSpPr>
          <p:cNvPr id="13" name="Rettangolo 12">
            <a:extLst>
              <a:ext uri="{FF2B5EF4-FFF2-40B4-BE49-F238E27FC236}">
                <a16:creationId xmlns:a16="http://schemas.microsoft.com/office/drawing/2014/main" id="{043EB1EF-4E06-DC1B-CDA9-A6F647698E9B}"/>
              </a:ext>
            </a:extLst>
          </p:cNvPr>
          <p:cNvSpPr>
            <a:spLocks noGrp="1"/>
          </p:cNvSpPr>
          <p:nvPr/>
        </p:nvSpPr>
        <p:spPr>
          <a:xfrm>
            <a:off x="4572000" y="3486150"/>
            <a:ext cx="6191250" cy="400050"/>
          </a:xfrm>
          <a:prstGeom prst="rect">
            <a:avLst/>
          </a:prstGeom>
          <a:noFill/>
          <a:ln w="0">
            <a:noFill/>
          </a:ln>
        </p:spPr>
        <p:txBody>
          <a:bodyPr anchor="ctr">
            <a:normAutofit/>
          </a:bodyPr>
          <a:lstStyle/>
          <a:p>
            <a:pPr algn="l">
              <a:defRPr sz="1575" b="0">
                <a:solidFill>
                  <a:srgbClr val="242424"/>
                </a:solidFill>
                <a:latin typeface="Arial"/>
                <a:ea typeface="Arial"/>
                <a:cs typeface="Arial"/>
              </a:defRPr>
            </a:pPr>
            <a:r>
              <a:rPr sz="1575" b="0">
                <a:solidFill>
                  <a:srgbClr val="242424"/>
                </a:solidFill>
                <a:latin typeface="+mj-lt"/>
                <a:ea typeface="Arial"/>
                <a:cs typeface="Arial"/>
              </a:rPr>
              <a:t>Calcolo e variabilità del PAT</a:t>
            </a:r>
          </a:p>
        </p:txBody>
      </p:sp>
      <p:sp>
        <p:nvSpPr>
          <p:cNvPr id="15" name="Rettangolo 14">
            <a:extLst>
              <a:ext uri="{FF2B5EF4-FFF2-40B4-BE49-F238E27FC236}">
                <a16:creationId xmlns:a16="http://schemas.microsoft.com/office/drawing/2014/main" id="{0B13F7E1-4C29-5658-3161-2265FA8077F8}"/>
              </a:ext>
            </a:extLst>
          </p:cNvPr>
          <p:cNvSpPr>
            <a:spLocks noGrp="1"/>
          </p:cNvSpPr>
          <p:nvPr/>
        </p:nvSpPr>
        <p:spPr>
          <a:xfrm>
            <a:off x="1238250" y="4305300"/>
            <a:ext cx="3048000" cy="400050"/>
          </a:xfrm>
          <a:prstGeom prst="rect">
            <a:avLst/>
          </a:prstGeom>
          <a:noFill/>
          <a:ln w="0">
            <a:noFill/>
          </a:ln>
        </p:spPr>
        <p:txBody>
          <a:bodyPr anchor="ctr">
            <a:normAutofit/>
          </a:bodyPr>
          <a:lstStyle/>
          <a:p>
            <a:pPr algn="l">
              <a:defRPr sz="1650" b="1">
                <a:solidFill>
                  <a:srgbClr val="0077B5"/>
                </a:solidFill>
                <a:latin typeface="Arial"/>
                <a:ea typeface="Arial"/>
                <a:cs typeface="Arial"/>
              </a:defRPr>
            </a:pPr>
            <a:r>
              <a:rPr sz="1650" b="1">
                <a:solidFill>
                  <a:srgbClr val="0077B5"/>
                </a:solidFill>
                <a:latin typeface="+mj-lt"/>
                <a:ea typeface="Arial"/>
                <a:cs typeface="Arial"/>
              </a:rPr>
              <a:t>Relazione lineare</a:t>
            </a:r>
          </a:p>
        </p:txBody>
      </p:sp>
      <p:sp>
        <p:nvSpPr>
          <p:cNvPr id="17" name="Rettangolo 16">
            <a:extLst>
              <a:ext uri="{FF2B5EF4-FFF2-40B4-BE49-F238E27FC236}">
                <a16:creationId xmlns:a16="http://schemas.microsoft.com/office/drawing/2014/main" id="{67D894CC-9F3C-FFE9-768F-DACD23F9194B}"/>
              </a:ext>
            </a:extLst>
          </p:cNvPr>
          <p:cNvSpPr>
            <a:spLocks noGrp="1"/>
          </p:cNvSpPr>
          <p:nvPr/>
        </p:nvSpPr>
        <p:spPr>
          <a:xfrm>
            <a:off x="4572000" y="4305300"/>
            <a:ext cx="6191250" cy="400050"/>
          </a:xfrm>
          <a:prstGeom prst="rect">
            <a:avLst/>
          </a:prstGeom>
          <a:noFill/>
          <a:ln w="0">
            <a:noFill/>
          </a:ln>
        </p:spPr>
        <p:txBody>
          <a:bodyPr anchor="ctr">
            <a:normAutofit/>
          </a:bodyPr>
          <a:lstStyle/>
          <a:p>
            <a:pPr algn="l">
              <a:defRPr sz="1575" b="0">
                <a:solidFill>
                  <a:srgbClr val="242424"/>
                </a:solidFill>
                <a:latin typeface="Arial"/>
                <a:ea typeface="Arial"/>
                <a:cs typeface="Arial"/>
              </a:defRPr>
            </a:pPr>
            <a:r>
              <a:rPr sz="1575" b="0">
                <a:solidFill>
                  <a:srgbClr val="242424"/>
                </a:solidFill>
                <a:latin typeface="+mj-lt"/>
                <a:ea typeface="Arial"/>
                <a:cs typeface="Arial"/>
              </a:rPr>
              <a:t>Correlazione, pendenza, intercetta e R²</a:t>
            </a:r>
          </a:p>
        </p:txBody>
      </p:sp>
      <p:sp>
        <p:nvSpPr>
          <p:cNvPr id="19" name="Rettangolo 18">
            <a:extLst>
              <a:ext uri="{FF2B5EF4-FFF2-40B4-BE49-F238E27FC236}">
                <a16:creationId xmlns:a16="http://schemas.microsoft.com/office/drawing/2014/main" id="{E6959DFE-E452-125C-78B3-578C497195E5}"/>
              </a:ext>
            </a:extLst>
          </p:cNvPr>
          <p:cNvSpPr>
            <a:spLocks noGrp="1"/>
          </p:cNvSpPr>
          <p:nvPr/>
        </p:nvSpPr>
        <p:spPr>
          <a:xfrm>
            <a:off x="1238250" y="5124450"/>
            <a:ext cx="3048000" cy="400050"/>
          </a:xfrm>
          <a:prstGeom prst="rect">
            <a:avLst/>
          </a:prstGeom>
          <a:noFill/>
          <a:ln w="0">
            <a:noFill/>
          </a:ln>
        </p:spPr>
        <p:txBody>
          <a:bodyPr anchor="ctr">
            <a:normAutofit/>
          </a:bodyPr>
          <a:lstStyle/>
          <a:p>
            <a:pPr algn="l">
              <a:defRPr sz="1650" b="1">
                <a:solidFill>
                  <a:srgbClr val="E85D04"/>
                </a:solidFill>
                <a:latin typeface="Arial"/>
                <a:ea typeface="Arial"/>
                <a:cs typeface="Arial"/>
              </a:defRPr>
            </a:pPr>
            <a:r>
              <a:rPr sz="1650" b="1">
                <a:solidFill>
                  <a:srgbClr val="E85D04"/>
                </a:solidFill>
                <a:latin typeface="+mj-lt"/>
                <a:ea typeface="Arial"/>
                <a:cs typeface="Arial"/>
              </a:rPr>
              <a:t>Dipendenza dinamica</a:t>
            </a:r>
          </a:p>
        </p:txBody>
      </p:sp>
      <p:sp>
        <p:nvSpPr>
          <p:cNvPr id="21" name="Rettangolo 20">
            <a:extLst>
              <a:ext uri="{FF2B5EF4-FFF2-40B4-BE49-F238E27FC236}">
                <a16:creationId xmlns:a16="http://schemas.microsoft.com/office/drawing/2014/main" id="{85A8A905-98C6-D294-D9BA-5BF037AD87B1}"/>
              </a:ext>
            </a:extLst>
          </p:cNvPr>
          <p:cNvSpPr>
            <a:spLocks noGrp="1"/>
          </p:cNvSpPr>
          <p:nvPr/>
        </p:nvSpPr>
        <p:spPr>
          <a:xfrm>
            <a:off x="4572000" y="5124450"/>
            <a:ext cx="6191250" cy="400050"/>
          </a:xfrm>
          <a:prstGeom prst="rect">
            <a:avLst/>
          </a:prstGeom>
          <a:noFill/>
          <a:ln w="0">
            <a:noFill/>
          </a:ln>
        </p:spPr>
        <p:txBody>
          <a:bodyPr anchor="ctr">
            <a:normAutofit/>
          </a:bodyPr>
          <a:lstStyle/>
          <a:p>
            <a:pPr algn="l">
              <a:defRPr sz="1575" b="0">
                <a:solidFill>
                  <a:srgbClr val="242424"/>
                </a:solidFill>
                <a:latin typeface="Arial"/>
                <a:ea typeface="Arial"/>
                <a:cs typeface="Arial"/>
              </a:defRPr>
            </a:pPr>
            <a:r>
              <a:rPr sz="1575" b="0">
                <a:solidFill>
                  <a:srgbClr val="242424"/>
                </a:solidFill>
                <a:latin typeface="+mj-lt"/>
                <a:ea typeface="Arial"/>
                <a:cs typeface="Arial"/>
              </a:rPr>
              <a:t>Causalità di Granger nelle due direzioni</a:t>
            </a:r>
          </a:p>
        </p:txBody>
      </p:sp>
      <p:sp>
        <p:nvSpPr>
          <p:cNvPr id="23" name="Rettangolo 22">
            <a:extLst>
              <a:ext uri="{FF2B5EF4-FFF2-40B4-BE49-F238E27FC236}">
                <a16:creationId xmlns:a16="http://schemas.microsoft.com/office/drawing/2014/main" id="{25752C1B-B7DF-A474-6787-2925A98E7AF2}"/>
              </a:ext>
            </a:extLst>
          </p:cNvPr>
          <p:cNvSpPr>
            <a:spLocks noGrp="1"/>
          </p:cNvSpPr>
          <p:nvPr/>
        </p:nvSpPr>
        <p:spPr>
          <a:xfrm>
            <a:off x="1428750" y="5953125"/>
            <a:ext cx="9334500" cy="457200"/>
          </a:xfrm>
          <a:prstGeom prst="rect">
            <a:avLst/>
          </a:prstGeom>
          <a:noFill/>
          <a:ln w="0">
            <a:noFill/>
          </a:ln>
        </p:spPr>
        <p:txBody>
          <a:bodyPr anchor="ctr">
            <a:normAutofit fontScale="99498"/>
          </a:bodyPr>
          <a:lstStyle/>
          <a:p>
            <a:pPr algn="ctr">
              <a:defRPr sz="1575" b="1">
                <a:solidFill>
                  <a:srgbClr val="E85D04"/>
                </a:solidFill>
                <a:latin typeface="Arial"/>
                <a:ea typeface="Arial"/>
                <a:cs typeface="Arial"/>
              </a:defRPr>
            </a:pPr>
            <a:r>
              <a:rPr sz="1575" b="1">
                <a:solidFill>
                  <a:srgbClr val="E85D04"/>
                </a:solidFill>
                <a:latin typeface="+mj-lt"/>
                <a:ea typeface="Arial"/>
                <a:cs typeface="Arial"/>
              </a:rPr>
              <a:t>La sostituibilità riguarda la conservazione della dinamica. Non implica identità perfetta tra le due misure.</a:t>
            </a:r>
          </a:p>
        </p:txBody>
      </p:sp>
    </p:spTree>
    <p:extLst>
      <p:ext uri="{BB962C8B-B14F-4D97-AF65-F5344CB8AC3E}">
        <p14:creationId xmlns:p14="http://schemas.microsoft.com/office/powerpoint/2010/main" val="1302007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5DE9E3-0AD4-B0FF-98FA-DC3CFE7A94E8}"/>
              </a:ext>
            </a:extLst>
          </p:cNvPr>
          <p:cNvSpPr>
            <a:spLocks noGrp="1"/>
          </p:cNvSpPr>
          <p:nvPr>
            <p:ph type="title"/>
          </p:nvPr>
        </p:nvSpPr>
        <p:spPr/>
        <p:txBody>
          <a:bodyPr/>
          <a:lstStyle/>
          <a:p>
            <a:r>
              <a:rPr lang="it-IT" dirty="0"/>
              <a:t>SETUP algoritmo e inizializzazione</a:t>
            </a:r>
          </a:p>
        </p:txBody>
      </p:sp>
      <p:pic>
        <p:nvPicPr>
          <p:cNvPr id="5" name="Segnaposto contenuto 4">
            <a:extLst>
              <a:ext uri="{FF2B5EF4-FFF2-40B4-BE49-F238E27FC236}">
                <a16:creationId xmlns:a16="http://schemas.microsoft.com/office/drawing/2014/main" id="{079202DF-86B4-78C0-EC7F-024E29E7D5DC}"/>
              </a:ext>
            </a:extLst>
          </p:cNvPr>
          <p:cNvPicPr>
            <a:picLocks noGrp="1" noChangeAspect="1"/>
          </p:cNvPicPr>
          <p:nvPr>
            <p:ph idx="1"/>
          </p:nvPr>
        </p:nvPicPr>
        <p:blipFill>
          <a:blip r:embed="rId2"/>
          <a:stretch>
            <a:fillRect/>
          </a:stretch>
        </p:blipFill>
        <p:spPr>
          <a:xfrm>
            <a:off x="1018982" y="1652037"/>
            <a:ext cx="3761362" cy="1697696"/>
          </a:xfrm>
          <a:prstGeom prst="rect">
            <a:avLst/>
          </a:prstGeom>
        </p:spPr>
      </p:pic>
      <p:pic>
        <p:nvPicPr>
          <p:cNvPr id="7" name="Immagine 6">
            <a:extLst>
              <a:ext uri="{FF2B5EF4-FFF2-40B4-BE49-F238E27FC236}">
                <a16:creationId xmlns:a16="http://schemas.microsoft.com/office/drawing/2014/main" id="{6269CE78-DE2F-6A77-E08A-4A54F9121108}"/>
              </a:ext>
            </a:extLst>
          </p:cNvPr>
          <p:cNvPicPr>
            <a:picLocks noChangeAspect="1"/>
          </p:cNvPicPr>
          <p:nvPr/>
        </p:nvPicPr>
        <p:blipFill>
          <a:blip r:embed="rId3"/>
          <a:stretch>
            <a:fillRect/>
          </a:stretch>
        </p:blipFill>
        <p:spPr>
          <a:xfrm>
            <a:off x="5787342" y="3684142"/>
            <a:ext cx="4887340" cy="1095438"/>
          </a:xfrm>
          <a:prstGeom prst="rect">
            <a:avLst/>
          </a:prstGeom>
        </p:spPr>
      </p:pic>
      <p:pic>
        <p:nvPicPr>
          <p:cNvPr id="11" name="Immagine 10">
            <a:extLst>
              <a:ext uri="{FF2B5EF4-FFF2-40B4-BE49-F238E27FC236}">
                <a16:creationId xmlns:a16="http://schemas.microsoft.com/office/drawing/2014/main" id="{FCDAB2BC-92A4-AA06-1976-D5E6D8C73535}"/>
              </a:ext>
            </a:extLst>
          </p:cNvPr>
          <p:cNvPicPr>
            <a:picLocks noChangeAspect="1"/>
          </p:cNvPicPr>
          <p:nvPr/>
        </p:nvPicPr>
        <p:blipFill>
          <a:blip r:embed="rId4"/>
          <a:stretch>
            <a:fillRect/>
          </a:stretch>
        </p:blipFill>
        <p:spPr>
          <a:xfrm>
            <a:off x="936416" y="4944848"/>
            <a:ext cx="2304496" cy="1606804"/>
          </a:xfrm>
          <a:prstGeom prst="rect">
            <a:avLst/>
          </a:prstGeom>
        </p:spPr>
      </p:pic>
      <p:pic>
        <p:nvPicPr>
          <p:cNvPr id="13" name="Immagine 12">
            <a:extLst>
              <a:ext uri="{FF2B5EF4-FFF2-40B4-BE49-F238E27FC236}">
                <a16:creationId xmlns:a16="http://schemas.microsoft.com/office/drawing/2014/main" id="{54E00AC9-A84C-4B9E-846C-78398D11A8A2}"/>
              </a:ext>
            </a:extLst>
          </p:cNvPr>
          <p:cNvPicPr>
            <a:picLocks noChangeAspect="1"/>
          </p:cNvPicPr>
          <p:nvPr/>
        </p:nvPicPr>
        <p:blipFill>
          <a:blip r:embed="rId5"/>
          <a:stretch>
            <a:fillRect/>
          </a:stretch>
        </p:blipFill>
        <p:spPr>
          <a:xfrm>
            <a:off x="3323893" y="5034987"/>
            <a:ext cx="2611919" cy="1435262"/>
          </a:xfrm>
          <a:prstGeom prst="rect">
            <a:avLst/>
          </a:prstGeom>
        </p:spPr>
      </p:pic>
      <p:sp>
        <p:nvSpPr>
          <p:cNvPr id="15" name="CasellaDiTesto 14">
            <a:extLst>
              <a:ext uri="{FF2B5EF4-FFF2-40B4-BE49-F238E27FC236}">
                <a16:creationId xmlns:a16="http://schemas.microsoft.com/office/drawing/2014/main" id="{F4E00481-C778-B8C4-D432-DDCE4346920C}"/>
              </a:ext>
            </a:extLst>
          </p:cNvPr>
          <p:cNvSpPr txBox="1"/>
          <p:nvPr/>
        </p:nvSpPr>
        <p:spPr>
          <a:xfrm>
            <a:off x="5003157" y="1733720"/>
            <a:ext cx="7046087" cy="1815882"/>
          </a:xfrm>
          <a:prstGeom prst="rect">
            <a:avLst/>
          </a:prstGeom>
          <a:noFill/>
        </p:spPr>
        <p:txBody>
          <a:bodyPr wrap="square">
            <a:spAutoFit/>
          </a:bodyPr>
          <a:lstStyle/>
          <a:p>
            <a:pPr algn="just"/>
            <a:r>
              <a:rPr lang="it-IT" sz="1400" dirty="0">
                <a:latin typeface="+mj-lt"/>
                <a:cs typeface="Times New Roman" panose="02020603050405020304" pitchFamily="18" charset="0"/>
              </a:rPr>
              <a:t>Caricamento dei dati dal database B ed estrazione dell’array di celle </a:t>
            </a:r>
            <a:r>
              <a:rPr lang="it-IT" sz="1400" dirty="0" err="1">
                <a:latin typeface="+mj-lt"/>
                <a:cs typeface="Times New Roman" panose="02020603050405020304" pitchFamily="18" charset="0"/>
              </a:rPr>
              <a:t>HRV.series</a:t>
            </a:r>
            <a:r>
              <a:rPr lang="it-IT" sz="1400" dirty="0">
                <a:latin typeface="+mj-lt"/>
                <a:cs typeface="Times New Roman" panose="02020603050405020304" pitchFamily="18" charset="0"/>
              </a:rPr>
              <a:t>, che contiene:</a:t>
            </a:r>
          </a:p>
          <a:p>
            <a:pPr marL="285750" indent="-285750" algn="just">
              <a:buFont typeface="Arial" panose="020B0604020202020204" pitchFamily="34" charset="0"/>
              <a:buChar char="•"/>
            </a:pPr>
            <a:r>
              <a:rPr lang="it-IT" sz="1400" dirty="0">
                <a:latin typeface="+mj-lt"/>
                <a:cs typeface="Times New Roman" panose="02020603050405020304" pitchFamily="18" charset="0"/>
              </a:rPr>
              <a:t>76 righe, corrispondenti ai </a:t>
            </a:r>
            <a:r>
              <a:rPr lang="it-IT" sz="1400" b="1" dirty="0">
                <a:latin typeface="+mj-lt"/>
                <a:cs typeface="Times New Roman" panose="02020603050405020304" pitchFamily="18" charset="0"/>
              </a:rPr>
              <a:t>soggetti</a:t>
            </a:r>
            <a:r>
              <a:rPr lang="it-IT" sz="1400" dirty="0">
                <a:latin typeface="+mj-lt"/>
                <a:cs typeface="Times New Roman" panose="02020603050405020304" pitchFamily="18" charset="0"/>
              </a:rPr>
              <a:t>;</a:t>
            </a:r>
          </a:p>
          <a:p>
            <a:pPr marL="285750" indent="-285750" algn="just">
              <a:buFont typeface="Arial" panose="020B0604020202020204" pitchFamily="34" charset="0"/>
              <a:buChar char="•"/>
            </a:pPr>
            <a:r>
              <a:rPr lang="it-IT" sz="1400" dirty="0">
                <a:latin typeface="+mj-lt"/>
                <a:cs typeface="Times New Roman" panose="02020603050405020304" pitchFamily="18" charset="0"/>
              </a:rPr>
              <a:t>5 colonne, corrispondenti alle </a:t>
            </a:r>
            <a:r>
              <a:rPr lang="it-IT" sz="1400" b="1" dirty="0">
                <a:latin typeface="+mj-lt"/>
                <a:cs typeface="Times New Roman" panose="02020603050405020304" pitchFamily="18" charset="0"/>
              </a:rPr>
              <a:t>fasi sperimentali</a:t>
            </a:r>
            <a:r>
              <a:rPr lang="it-IT" sz="1400" dirty="0">
                <a:latin typeface="+mj-lt"/>
                <a:cs typeface="Times New Roman" panose="02020603050405020304" pitchFamily="18" charset="0"/>
              </a:rPr>
              <a:t>.</a:t>
            </a:r>
          </a:p>
          <a:p>
            <a:pPr algn="just"/>
            <a:r>
              <a:rPr lang="it-IT" sz="1400" dirty="0">
                <a:latin typeface="+mj-lt"/>
                <a:cs typeface="Times New Roman" panose="02020603050405020304" pitchFamily="18" charset="0"/>
              </a:rPr>
              <a:t>Ogni cella contiene una matrice formata da:</a:t>
            </a:r>
          </a:p>
          <a:p>
            <a:pPr marL="285750" indent="-285750" algn="just">
              <a:buFont typeface="Arial" panose="020B0604020202020204" pitchFamily="34" charset="0"/>
              <a:buChar char="•"/>
            </a:pPr>
            <a:r>
              <a:rPr lang="it-IT" sz="1400" dirty="0">
                <a:latin typeface="+mj-lt"/>
                <a:cs typeface="Times New Roman" panose="02020603050405020304" pitchFamily="18" charset="0"/>
              </a:rPr>
              <a:t>300 righe, corrispondenti ai </a:t>
            </a:r>
            <a:r>
              <a:rPr lang="it-IT" sz="1400" b="1" dirty="0">
                <a:latin typeface="+mj-lt"/>
                <a:cs typeface="Times New Roman" panose="02020603050405020304" pitchFamily="18" charset="0"/>
              </a:rPr>
              <a:t>battiti e agli istanti dei picchi</a:t>
            </a:r>
            <a:r>
              <a:rPr lang="it-IT" sz="1400" dirty="0">
                <a:latin typeface="+mj-lt"/>
                <a:cs typeface="Times New Roman" panose="02020603050405020304" pitchFamily="18" charset="0"/>
              </a:rPr>
              <a:t>;</a:t>
            </a:r>
          </a:p>
          <a:p>
            <a:pPr marL="285750" indent="-285750" algn="just">
              <a:buFont typeface="Arial" panose="020B0604020202020204" pitchFamily="34" charset="0"/>
              <a:buChar char="•"/>
            </a:pPr>
            <a:r>
              <a:rPr lang="it-IT" sz="1400" dirty="0">
                <a:latin typeface="+mj-lt"/>
                <a:cs typeface="Times New Roman" panose="02020603050405020304" pitchFamily="18" charset="0"/>
              </a:rPr>
              <a:t>2 colonne:</a:t>
            </a:r>
          </a:p>
          <a:p>
            <a:pPr marL="742950" lvl="1" indent="-285750" algn="just">
              <a:buFont typeface="Arial" panose="020B0604020202020204" pitchFamily="34" charset="0"/>
              <a:buChar char="•"/>
            </a:pPr>
            <a:r>
              <a:rPr lang="it-IT" sz="1400" dirty="0">
                <a:latin typeface="+mj-lt"/>
                <a:cs typeface="Times New Roman" panose="02020603050405020304" pitchFamily="18" charset="0"/>
              </a:rPr>
              <a:t>prima colonna</a:t>
            </a:r>
            <a:r>
              <a:rPr lang="it-IT" sz="1400" b="1" dirty="0">
                <a:latin typeface="+mj-lt"/>
                <a:cs typeface="Times New Roman" panose="02020603050405020304" pitchFamily="18" charset="0"/>
              </a:rPr>
              <a:t>: tempi dei picchi R dell’ECG</a:t>
            </a:r>
            <a:r>
              <a:rPr lang="it-IT" sz="1400" dirty="0">
                <a:latin typeface="+mj-lt"/>
                <a:cs typeface="Times New Roman" panose="02020603050405020304" pitchFamily="18" charset="0"/>
              </a:rPr>
              <a:t>;</a:t>
            </a:r>
          </a:p>
          <a:p>
            <a:pPr marL="742950" lvl="1" indent="-285750" algn="just">
              <a:buFont typeface="Arial" panose="020B0604020202020204" pitchFamily="34" charset="0"/>
              <a:buChar char="•"/>
            </a:pPr>
            <a:r>
              <a:rPr lang="it-IT" sz="1400" dirty="0">
                <a:latin typeface="+mj-lt"/>
                <a:cs typeface="Times New Roman" panose="02020603050405020304" pitchFamily="18" charset="0"/>
              </a:rPr>
              <a:t>seconda colonna: </a:t>
            </a:r>
            <a:r>
              <a:rPr lang="it-IT" sz="1400" b="1" dirty="0">
                <a:latin typeface="+mj-lt"/>
                <a:cs typeface="Times New Roman" panose="02020603050405020304" pitchFamily="18" charset="0"/>
              </a:rPr>
              <a:t>tempi dei corrispondenti picchi periferici.</a:t>
            </a:r>
          </a:p>
        </p:txBody>
      </p:sp>
      <p:sp>
        <p:nvSpPr>
          <p:cNvPr id="17" name="CasellaDiTesto 16">
            <a:extLst>
              <a:ext uri="{FF2B5EF4-FFF2-40B4-BE49-F238E27FC236}">
                <a16:creationId xmlns:a16="http://schemas.microsoft.com/office/drawing/2014/main" id="{6DBA1908-E6BB-A2DD-B090-538DAF8020BF}"/>
              </a:ext>
            </a:extLst>
          </p:cNvPr>
          <p:cNvSpPr txBox="1"/>
          <p:nvPr/>
        </p:nvSpPr>
        <p:spPr>
          <a:xfrm>
            <a:off x="1184521" y="3958279"/>
            <a:ext cx="4267156" cy="369332"/>
          </a:xfrm>
          <a:prstGeom prst="rect">
            <a:avLst/>
          </a:prstGeom>
          <a:noFill/>
        </p:spPr>
        <p:txBody>
          <a:bodyPr wrap="square" rtlCol="0">
            <a:spAutoFit/>
          </a:bodyPr>
          <a:lstStyle/>
          <a:p>
            <a:pPr algn="just"/>
            <a:r>
              <a:rPr lang="it-IT" dirty="0">
                <a:latin typeface="+mj-lt"/>
                <a:cs typeface="Times New Roman" panose="02020603050405020304" pitchFamily="18" charset="0"/>
              </a:rPr>
              <a:t>Numerazione soggetti e fasi considerate</a:t>
            </a:r>
          </a:p>
        </p:txBody>
      </p:sp>
      <p:sp>
        <p:nvSpPr>
          <p:cNvPr id="19" name="CasellaDiTesto 18">
            <a:extLst>
              <a:ext uri="{FF2B5EF4-FFF2-40B4-BE49-F238E27FC236}">
                <a16:creationId xmlns:a16="http://schemas.microsoft.com/office/drawing/2014/main" id="{62E1FD91-D75E-AF29-D667-40B66759FA45}"/>
              </a:ext>
            </a:extLst>
          </p:cNvPr>
          <p:cNvSpPr txBox="1"/>
          <p:nvPr/>
        </p:nvSpPr>
        <p:spPr>
          <a:xfrm>
            <a:off x="6779586" y="5526924"/>
            <a:ext cx="4446494" cy="369332"/>
          </a:xfrm>
          <a:prstGeom prst="rect">
            <a:avLst/>
          </a:prstGeom>
          <a:noFill/>
        </p:spPr>
        <p:txBody>
          <a:bodyPr wrap="square" rtlCol="0">
            <a:spAutoFit/>
          </a:bodyPr>
          <a:lstStyle/>
          <a:p>
            <a:r>
              <a:rPr lang="it-IT" dirty="0">
                <a:latin typeface="+mj-lt"/>
                <a:cs typeface="Times New Roman" panose="02020603050405020304" pitchFamily="18" charset="0"/>
              </a:rPr>
              <a:t>Inizializzazione matrici dei risultati</a:t>
            </a:r>
          </a:p>
        </p:txBody>
      </p:sp>
    </p:spTree>
    <p:extLst>
      <p:ext uri="{BB962C8B-B14F-4D97-AF65-F5344CB8AC3E}">
        <p14:creationId xmlns:p14="http://schemas.microsoft.com/office/powerpoint/2010/main" val="1516861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7B0C6F-4B20-682F-A4DC-2A5B7865068F}"/>
              </a:ext>
            </a:extLst>
          </p:cNvPr>
          <p:cNvSpPr>
            <a:spLocks noGrp="1"/>
          </p:cNvSpPr>
          <p:nvPr>
            <p:ph type="title"/>
          </p:nvPr>
        </p:nvSpPr>
        <p:spPr/>
        <p:txBody>
          <a:bodyPr/>
          <a:lstStyle/>
          <a:p>
            <a:r>
              <a:rPr lang="it-IT" dirty="0"/>
              <a:t>Costruzione </a:t>
            </a:r>
            <a:r>
              <a:rPr lang="it-IT" dirty="0" err="1"/>
              <a:t>dellE</a:t>
            </a:r>
            <a:r>
              <a:rPr lang="it-IT" dirty="0"/>
              <a:t> serie</a:t>
            </a:r>
          </a:p>
        </p:txBody>
      </p:sp>
      <p:sp>
        <p:nvSpPr>
          <p:cNvPr id="9" name="CasellaDiTesto 8">
            <a:extLst>
              <a:ext uri="{FF2B5EF4-FFF2-40B4-BE49-F238E27FC236}">
                <a16:creationId xmlns:a16="http://schemas.microsoft.com/office/drawing/2014/main" id="{366AD41E-B639-0C5A-6BE7-2226E37BDCE2}"/>
              </a:ext>
            </a:extLst>
          </p:cNvPr>
          <p:cNvSpPr txBox="1"/>
          <p:nvPr/>
        </p:nvSpPr>
        <p:spPr>
          <a:xfrm>
            <a:off x="6447098" y="2300087"/>
            <a:ext cx="5069712" cy="3139321"/>
          </a:xfrm>
          <a:prstGeom prst="rect">
            <a:avLst/>
          </a:prstGeom>
          <a:noFill/>
        </p:spPr>
        <p:txBody>
          <a:bodyPr wrap="square">
            <a:spAutoFit/>
          </a:bodyPr>
          <a:lstStyle/>
          <a:p>
            <a:r>
              <a:rPr lang="it-IT" dirty="0">
                <a:latin typeface="+mj-lt"/>
              </a:rPr>
              <a:t>Per ogni fase sperimentale vengono estratti i tempi dei picchi R dell’ECG e dei picchi periferici. La funzione diff calcola le differenze tra tempi consecutivi, permettendo di costruire rispettivamente le serie RRI e PPI. Gli intervalli vengono convertiti in millisecondi e rappresentati insieme per un soggetto rappresentativo.</a:t>
            </a:r>
          </a:p>
          <a:p>
            <a:endParaRPr lang="it-IT" dirty="0">
              <a:latin typeface="+mj-lt"/>
            </a:endParaRPr>
          </a:p>
          <a:p>
            <a:r>
              <a:rPr lang="it-IT" dirty="0">
                <a:latin typeface="+mj-lt"/>
              </a:rPr>
              <a:t>A partire da 300 tempi dei picchi si ottengono 299 intervalli, poiché ogni intervallo viene calcolato tra due picchi consecutivi.</a:t>
            </a:r>
          </a:p>
        </p:txBody>
      </p:sp>
      <p:pic>
        <p:nvPicPr>
          <p:cNvPr id="15" name="Segnaposto contenuto 14">
            <a:extLst>
              <a:ext uri="{FF2B5EF4-FFF2-40B4-BE49-F238E27FC236}">
                <a16:creationId xmlns:a16="http://schemas.microsoft.com/office/drawing/2014/main" id="{F5355A27-5795-7A13-1874-CDEA64D45C74}"/>
              </a:ext>
            </a:extLst>
          </p:cNvPr>
          <p:cNvPicPr>
            <a:picLocks noGrp="1" noChangeAspect="1"/>
          </p:cNvPicPr>
          <p:nvPr>
            <p:ph idx="1"/>
          </p:nvPr>
        </p:nvPicPr>
        <p:blipFill>
          <a:blip r:embed="rId2"/>
          <a:stretch>
            <a:fillRect/>
          </a:stretch>
        </p:blipFill>
        <p:spPr>
          <a:xfrm>
            <a:off x="1233872" y="1674270"/>
            <a:ext cx="4102918" cy="4700588"/>
          </a:xfrm>
          <a:prstGeom prst="rect">
            <a:avLst/>
          </a:prstGeom>
        </p:spPr>
      </p:pic>
    </p:spTree>
    <p:extLst>
      <p:ext uri="{BB962C8B-B14F-4D97-AF65-F5344CB8AC3E}">
        <p14:creationId xmlns:p14="http://schemas.microsoft.com/office/powerpoint/2010/main" val="2834019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93B264-1DD7-2C0B-4863-9042F27CA585}"/>
              </a:ext>
            </a:extLst>
          </p:cNvPr>
          <p:cNvSpPr>
            <a:spLocks noGrp="1"/>
          </p:cNvSpPr>
          <p:nvPr>
            <p:ph type="title"/>
          </p:nvPr>
        </p:nvSpPr>
        <p:spPr/>
        <p:txBody>
          <a:bodyPr/>
          <a:lstStyle/>
          <a:p>
            <a:r>
              <a:rPr lang="it-IT" dirty="0"/>
              <a:t>SERIE RRI E PPI DEL SOGGETTO RAPPRESENTATIVO</a:t>
            </a:r>
          </a:p>
        </p:txBody>
      </p:sp>
      <p:pic>
        <p:nvPicPr>
          <p:cNvPr id="5" name="Segnaposto contenuto 4">
            <a:extLst>
              <a:ext uri="{FF2B5EF4-FFF2-40B4-BE49-F238E27FC236}">
                <a16:creationId xmlns:a16="http://schemas.microsoft.com/office/drawing/2014/main" id="{4007EBF3-188F-02F3-94CB-8BFE83E6E57F}"/>
              </a:ext>
            </a:extLst>
          </p:cNvPr>
          <p:cNvPicPr>
            <a:picLocks noGrp="1" noChangeAspect="1"/>
          </p:cNvPicPr>
          <p:nvPr>
            <p:ph idx="1"/>
          </p:nvPr>
        </p:nvPicPr>
        <p:blipFill>
          <a:blip r:embed="rId2"/>
          <a:stretch>
            <a:fillRect/>
          </a:stretch>
        </p:blipFill>
        <p:spPr>
          <a:xfrm>
            <a:off x="419551" y="1489074"/>
            <a:ext cx="11313665" cy="5143219"/>
          </a:xfrm>
          <a:prstGeom prst="rect">
            <a:avLst/>
          </a:prstGeom>
        </p:spPr>
      </p:pic>
    </p:spTree>
    <p:extLst>
      <p:ext uri="{BB962C8B-B14F-4D97-AF65-F5344CB8AC3E}">
        <p14:creationId xmlns:p14="http://schemas.microsoft.com/office/powerpoint/2010/main" val="3398711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9BA4FA-0B23-0827-CAAC-C2C156C13B84}"/>
              </a:ext>
            </a:extLst>
          </p:cNvPr>
          <p:cNvSpPr>
            <a:spLocks noGrp="1"/>
          </p:cNvSpPr>
          <p:nvPr>
            <p:ph type="title"/>
          </p:nvPr>
        </p:nvSpPr>
        <p:spPr/>
        <p:txBody>
          <a:bodyPr/>
          <a:lstStyle/>
          <a:p>
            <a:r>
              <a:rPr lang="it-IT" dirty="0"/>
              <a:t>SERIE PAT</a:t>
            </a:r>
          </a:p>
        </p:txBody>
      </p:sp>
      <p:pic>
        <p:nvPicPr>
          <p:cNvPr id="5" name="Segnaposto contenuto 4">
            <a:extLst>
              <a:ext uri="{FF2B5EF4-FFF2-40B4-BE49-F238E27FC236}">
                <a16:creationId xmlns:a16="http://schemas.microsoft.com/office/drawing/2014/main" id="{7AEB16BD-5DBD-A32F-58DA-52429A11FCF2}"/>
              </a:ext>
            </a:extLst>
          </p:cNvPr>
          <p:cNvPicPr>
            <a:picLocks noGrp="1" noChangeAspect="1"/>
          </p:cNvPicPr>
          <p:nvPr>
            <p:ph idx="1"/>
          </p:nvPr>
        </p:nvPicPr>
        <p:blipFill>
          <a:blip r:embed="rId2"/>
          <a:stretch>
            <a:fillRect/>
          </a:stretch>
        </p:blipFill>
        <p:spPr>
          <a:xfrm>
            <a:off x="876832" y="1556022"/>
            <a:ext cx="4724400" cy="4381500"/>
          </a:xfrm>
          <a:prstGeom prst="rect">
            <a:avLst/>
          </a:prstGeom>
        </p:spPr>
      </p:pic>
      <p:sp>
        <p:nvSpPr>
          <p:cNvPr id="7" name="CasellaDiTesto 6">
            <a:extLst>
              <a:ext uri="{FF2B5EF4-FFF2-40B4-BE49-F238E27FC236}">
                <a16:creationId xmlns:a16="http://schemas.microsoft.com/office/drawing/2014/main" id="{B5A7B005-12A8-B07F-E89A-0916481CD461}"/>
              </a:ext>
            </a:extLst>
          </p:cNvPr>
          <p:cNvSpPr txBox="1"/>
          <p:nvPr/>
        </p:nvSpPr>
        <p:spPr>
          <a:xfrm>
            <a:off x="6334245" y="2195517"/>
            <a:ext cx="4789025" cy="3139321"/>
          </a:xfrm>
          <a:prstGeom prst="rect">
            <a:avLst/>
          </a:prstGeom>
          <a:noFill/>
        </p:spPr>
        <p:txBody>
          <a:bodyPr wrap="square">
            <a:spAutoFit/>
          </a:bodyPr>
          <a:lstStyle/>
          <a:p>
            <a:pPr algn="just"/>
            <a:r>
              <a:rPr lang="it-IT" dirty="0">
                <a:latin typeface="+mj-lt"/>
              </a:rPr>
              <a:t>Per ogni fase viene calcolata la serie del Pulse </a:t>
            </a:r>
            <a:r>
              <a:rPr lang="it-IT" dirty="0" err="1">
                <a:latin typeface="+mj-lt"/>
              </a:rPr>
              <a:t>Arrival</a:t>
            </a:r>
            <a:r>
              <a:rPr lang="it-IT" dirty="0">
                <a:latin typeface="+mj-lt"/>
              </a:rPr>
              <a:t> Time sottraendo, per ciascun battito, il tempo del picco R dell’ECG dal tempo del corrispondente picco periferico. Il risultato viene convertito in millisecondi e visualizzato nelle tre condizioni sperimentali.</a:t>
            </a:r>
          </a:p>
          <a:p>
            <a:pPr algn="just"/>
            <a:endParaRPr lang="it-IT" dirty="0">
              <a:latin typeface="+mj-lt"/>
            </a:endParaRPr>
          </a:p>
          <a:p>
            <a:pPr algn="just"/>
            <a:r>
              <a:rPr lang="it-IT" dirty="0">
                <a:latin typeface="+mj-lt"/>
              </a:rPr>
              <a:t>A differenza di RRI e PPI, il PAT non viene ottenuto con diff, perché rappresenta la distanza temporale tra due eventi dello stesso battito e non tra due battiti consecutivi.</a:t>
            </a:r>
          </a:p>
        </p:txBody>
      </p:sp>
    </p:spTree>
    <p:extLst>
      <p:ext uri="{BB962C8B-B14F-4D97-AF65-F5344CB8AC3E}">
        <p14:creationId xmlns:p14="http://schemas.microsoft.com/office/powerpoint/2010/main" val="1456662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8BC0A9-82C6-1BC2-4C0E-94744E0C66EE}"/>
              </a:ext>
            </a:extLst>
          </p:cNvPr>
          <p:cNvSpPr>
            <a:spLocks noGrp="1"/>
          </p:cNvSpPr>
          <p:nvPr>
            <p:ph type="title"/>
          </p:nvPr>
        </p:nvSpPr>
        <p:spPr/>
        <p:txBody>
          <a:bodyPr/>
          <a:lstStyle/>
          <a:p>
            <a:r>
              <a:rPr lang="it-IT" dirty="0"/>
              <a:t>SERIE PAT DEL SOGGETTO RAPPRESENTATIVO</a:t>
            </a:r>
          </a:p>
        </p:txBody>
      </p:sp>
      <p:pic>
        <p:nvPicPr>
          <p:cNvPr id="5" name="Segnaposto contenuto 4">
            <a:extLst>
              <a:ext uri="{FF2B5EF4-FFF2-40B4-BE49-F238E27FC236}">
                <a16:creationId xmlns:a16="http://schemas.microsoft.com/office/drawing/2014/main" id="{15A806DC-1975-7541-91FF-3094E23352C6}"/>
              </a:ext>
            </a:extLst>
          </p:cNvPr>
          <p:cNvPicPr>
            <a:picLocks noGrp="1" noChangeAspect="1"/>
          </p:cNvPicPr>
          <p:nvPr>
            <p:ph idx="1"/>
          </p:nvPr>
        </p:nvPicPr>
        <p:blipFill>
          <a:blip r:embed="rId2"/>
          <a:stretch>
            <a:fillRect/>
          </a:stretch>
        </p:blipFill>
        <p:spPr>
          <a:xfrm>
            <a:off x="377851" y="1489075"/>
            <a:ext cx="11270227" cy="5201092"/>
          </a:xfrm>
          <a:prstGeom prst="rect">
            <a:avLst/>
          </a:prstGeom>
        </p:spPr>
      </p:pic>
    </p:spTree>
    <p:extLst>
      <p:ext uri="{BB962C8B-B14F-4D97-AF65-F5344CB8AC3E}">
        <p14:creationId xmlns:p14="http://schemas.microsoft.com/office/powerpoint/2010/main" val="130474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4C691D-9F11-6FE6-7D39-4A0C6A736E81}"/>
              </a:ext>
            </a:extLst>
          </p:cNvPr>
          <p:cNvSpPr>
            <a:spLocks noGrp="1"/>
          </p:cNvSpPr>
          <p:nvPr>
            <p:ph type="title"/>
          </p:nvPr>
        </p:nvSpPr>
        <p:spPr/>
        <p:txBody>
          <a:bodyPr>
            <a:normAutofit/>
          </a:bodyPr>
          <a:lstStyle/>
          <a:p>
            <a:r>
              <a:rPr lang="it-IT" dirty="0"/>
              <a:t>PAT medio e variabilità nelle tre condizioni</a:t>
            </a:r>
          </a:p>
        </p:txBody>
      </p:sp>
      <p:sp>
        <p:nvSpPr>
          <p:cNvPr id="7" name="CasellaDiTesto 6">
            <a:extLst>
              <a:ext uri="{FF2B5EF4-FFF2-40B4-BE49-F238E27FC236}">
                <a16:creationId xmlns:a16="http://schemas.microsoft.com/office/drawing/2014/main" id="{0BA363A5-7715-0DF0-D89A-2F216526C9AD}"/>
              </a:ext>
            </a:extLst>
          </p:cNvPr>
          <p:cNvSpPr txBox="1"/>
          <p:nvPr/>
        </p:nvSpPr>
        <p:spPr>
          <a:xfrm>
            <a:off x="5602146" y="1572072"/>
            <a:ext cx="5787343" cy="2585323"/>
          </a:xfrm>
          <a:prstGeom prst="rect">
            <a:avLst/>
          </a:prstGeom>
          <a:noFill/>
        </p:spPr>
        <p:txBody>
          <a:bodyPr wrap="square">
            <a:spAutoFit/>
          </a:bodyPr>
          <a:lstStyle/>
          <a:p>
            <a:pPr algn="just"/>
            <a:r>
              <a:rPr lang="it-IT" dirty="0">
                <a:latin typeface="+mj-lt"/>
              </a:rPr>
              <a:t>Dopo aver costruito la serie PAT, per ogni soggetto e condizione vengono calcolati il valore medio e la deviazione standard. Il PAT medio rappresenta il ritardo medio tra il picco R dell’ECG e l’arrivo dell’onda pulsatile in periferia. La deviazione standard descrive invece quanto questo ritardo varia da un battito al successivo. I </a:t>
            </a:r>
            <a:r>
              <a:rPr lang="it-IT" dirty="0" err="1">
                <a:latin typeface="+mj-lt"/>
              </a:rPr>
              <a:t>boxplot</a:t>
            </a:r>
            <a:r>
              <a:rPr lang="it-IT" dirty="0">
                <a:latin typeface="+mj-lt"/>
              </a:rPr>
              <a:t> mostrano la distribuzione di queste quantità nei 76 soggetti e consentono un confronto descrittivo tra REST, TILT e MENTAL ARITHMETIC.</a:t>
            </a:r>
          </a:p>
        </p:txBody>
      </p:sp>
      <p:pic>
        <p:nvPicPr>
          <p:cNvPr id="11" name="Segnaposto contenuto 10">
            <a:extLst>
              <a:ext uri="{FF2B5EF4-FFF2-40B4-BE49-F238E27FC236}">
                <a16:creationId xmlns:a16="http://schemas.microsoft.com/office/drawing/2014/main" id="{2760CF91-5971-3914-F64B-5C5122146110}"/>
              </a:ext>
            </a:extLst>
          </p:cNvPr>
          <p:cNvPicPr>
            <a:picLocks noGrp="1" noChangeAspect="1"/>
          </p:cNvPicPr>
          <p:nvPr>
            <p:ph idx="1"/>
          </p:nvPr>
        </p:nvPicPr>
        <p:blipFill>
          <a:blip r:embed="rId2"/>
          <a:stretch>
            <a:fillRect/>
          </a:stretch>
        </p:blipFill>
        <p:spPr>
          <a:xfrm>
            <a:off x="796476" y="1573668"/>
            <a:ext cx="4319533" cy="4141830"/>
          </a:xfrm>
          <a:prstGeom prst="rect">
            <a:avLst/>
          </a:prstGeom>
        </p:spPr>
      </p:pic>
      <p:pic>
        <p:nvPicPr>
          <p:cNvPr id="13" name="Immagine 12">
            <a:extLst>
              <a:ext uri="{FF2B5EF4-FFF2-40B4-BE49-F238E27FC236}">
                <a16:creationId xmlns:a16="http://schemas.microsoft.com/office/drawing/2014/main" id="{D31CAAE3-3310-22F3-3E43-745231C07CC6}"/>
              </a:ext>
            </a:extLst>
          </p:cNvPr>
          <p:cNvPicPr>
            <a:picLocks noChangeAspect="1"/>
          </p:cNvPicPr>
          <p:nvPr/>
        </p:nvPicPr>
        <p:blipFill>
          <a:blip r:embed="rId3"/>
          <a:stretch>
            <a:fillRect/>
          </a:stretch>
        </p:blipFill>
        <p:spPr>
          <a:xfrm>
            <a:off x="6395133" y="4147269"/>
            <a:ext cx="3663267" cy="2559268"/>
          </a:xfrm>
          <a:prstGeom prst="rect">
            <a:avLst/>
          </a:prstGeom>
        </p:spPr>
      </p:pic>
    </p:spTree>
    <p:extLst>
      <p:ext uri="{BB962C8B-B14F-4D97-AF65-F5344CB8AC3E}">
        <p14:creationId xmlns:p14="http://schemas.microsoft.com/office/powerpoint/2010/main" val="4019084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1FE18EA-13FF-DB9B-57C2-3DBA8CACCC50}"/>
              </a:ext>
            </a:extLst>
          </p:cNvPr>
          <p:cNvSpPr>
            <a:spLocks noGrp="1"/>
          </p:cNvSpPr>
          <p:nvPr>
            <p:ph type="title"/>
          </p:nvPr>
        </p:nvSpPr>
        <p:spPr/>
        <p:txBody>
          <a:bodyPr/>
          <a:lstStyle/>
          <a:p>
            <a:r>
              <a:rPr lang="it-IT" dirty="0"/>
              <a:t>PAT medio e variabilità nelle tre condizioni</a:t>
            </a:r>
          </a:p>
        </p:txBody>
      </p:sp>
      <p:pic>
        <p:nvPicPr>
          <p:cNvPr id="5" name="Segnaposto contenuto 4">
            <a:extLst>
              <a:ext uri="{FF2B5EF4-FFF2-40B4-BE49-F238E27FC236}">
                <a16:creationId xmlns:a16="http://schemas.microsoft.com/office/drawing/2014/main" id="{2DC7346F-814D-45F9-C4F0-72F843A1912D}"/>
              </a:ext>
            </a:extLst>
          </p:cNvPr>
          <p:cNvPicPr>
            <a:picLocks noGrp="1" noChangeAspect="1"/>
          </p:cNvPicPr>
          <p:nvPr>
            <p:ph idx="1"/>
          </p:nvPr>
        </p:nvPicPr>
        <p:blipFill>
          <a:blip r:embed="rId2"/>
          <a:stretch>
            <a:fillRect/>
          </a:stretch>
        </p:blipFill>
        <p:spPr>
          <a:xfrm>
            <a:off x="960698" y="1489075"/>
            <a:ext cx="9924351" cy="4563569"/>
          </a:xfrm>
          <a:prstGeom prst="rect">
            <a:avLst/>
          </a:prstGeom>
        </p:spPr>
      </p:pic>
      <p:sp>
        <p:nvSpPr>
          <p:cNvPr id="7" name="Rettangolo 6">
            <a:extLst>
              <a:ext uri="{FF2B5EF4-FFF2-40B4-BE49-F238E27FC236}">
                <a16:creationId xmlns:a16="http://schemas.microsoft.com/office/drawing/2014/main" id="{778EE5D1-E153-6E05-E496-4CAA87CAC1C6}"/>
              </a:ext>
            </a:extLst>
          </p:cNvPr>
          <p:cNvSpPr>
            <a:spLocks noGrp="1"/>
          </p:cNvSpPr>
          <p:nvPr/>
        </p:nvSpPr>
        <p:spPr>
          <a:xfrm>
            <a:off x="688574" y="6175335"/>
            <a:ext cx="5334000" cy="381000"/>
          </a:xfrm>
          <a:prstGeom prst="rect">
            <a:avLst/>
          </a:prstGeom>
          <a:noFill/>
          <a:ln w="0">
            <a:noFill/>
          </a:ln>
        </p:spPr>
        <p:txBody>
          <a:bodyPr anchor="ctr">
            <a:normAutofit/>
          </a:bodyPr>
          <a:lstStyle/>
          <a:p>
            <a:pPr algn="ctr">
              <a:defRPr sz="1425" b="1">
                <a:solidFill>
                  <a:srgbClr val="0077B5"/>
                </a:solidFill>
                <a:latin typeface="Arial"/>
                <a:ea typeface="Arial"/>
                <a:cs typeface="Arial"/>
              </a:defRPr>
            </a:pPr>
            <a:r>
              <a:rPr sz="1425" b="1">
                <a:solidFill>
                  <a:srgbClr val="0077B5"/>
                </a:solidFill>
                <a:latin typeface="Arial"/>
                <a:ea typeface="Arial"/>
                <a:cs typeface="Arial"/>
              </a:rPr>
              <a:t>Mediane PAT medio: 310.3, 295.4 e 285.3 ms</a:t>
            </a:r>
          </a:p>
        </p:txBody>
      </p:sp>
      <p:sp>
        <p:nvSpPr>
          <p:cNvPr id="9" name="Rettangolo 8">
            <a:extLst>
              <a:ext uri="{FF2B5EF4-FFF2-40B4-BE49-F238E27FC236}">
                <a16:creationId xmlns:a16="http://schemas.microsoft.com/office/drawing/2014/main" id="{41386F22-08EF-149B-9B02-74B1ABF3F1CC}"/>
              </a:ext>
            </a:extLst>
          </p:cNvPr>
          <p:cNvSpPr>
            <a:spLocks noGrp="1"/>
          </p:cNvSpPr>
          <p:nvPr/>
        </p:nvSpPr>
        <p:spPr>
          <a:xfrm>
            <a:off x="6066581" y="6163760"/>
            <a:ext cx="5381625" cy="381000"/>
          </a:xfrm>
          <a:prstGeom prst="rect">
            <a:avLst/>
          </a:prstGeom>
          <a:noFill/>
          <a:ln w="0">
            <a:noFill/>
          </a:ln>
        </p:spPr>
        <p:txBody>
          <a:bodyPr anchor="ctr">
            <a:normAutofit/>
          </a:bodyPr>
          <a:lstStyle/>
          <a:p>
            <a:pPr algn="ctr">
              <a:defRPr sz="1425" b="1">
                <a:solidFill>
                  <a:srgbClr val="E85D04"/>
                </a:solidFill>
                <a:latin typeface="Arial"/>
                <a:ea typeface="Arial"/>
                <a:cs typeface="Arial"/>
              </a:defRPr>
            </a:pPr>
            <a:r>
              <a:rPr sz="1425" b="1">
                <a:solidFill>
                  <a:srgbClr val="E85D04"/>
                </a:solidFill>
                <a:latin typeface="Arial"/>
                <a:ea typeface="Arial"/>
                <a:cs typeface="Arial"/>
              </a:rPr>
              <a:t>Mediane variabilità: 8.18, 8.73 e 7.47 ms</a:t>
            </a:r>
          </a:p>
        </p:txBody>
      </p:sp>
      <p:sp>
        <p:nvSpPr>
          <p:cNvPr id="11" name="Rettangolo 10">
            <a:extLst>
              <a:ext uri="{FF2B5EF4-FFF2-40B4-BE49-F238E27FC236}">
                <a16:creationId xmlns:a16="http://schemas.microsoft.com/office/drawing/2014/main" id="{E403A296-0A5C-E34A-E9FC-744FF6078133}"/>
              </a:ext>
            </a:extLst>
          </p:cNvPr>
          <p:cNvSpPr>
            <a:spLocks noGrp="1"/>
          </p:cNvSpPr>
          <p:nvPr/>
        </p:nvSpPr>
        <p:spPr>
          <a:xfrm>
            <a:off x="1404274" y="6515100"/>
            <a:ext cx="9429750" cy="342900"/>
          </a:xfrm>
          <a:prstGeom prst="rect">
            <a:avLst/>
          </a:prstGeom>
          <a:noFill/>
          <a:ln w="0">
            <a:noFill/>
          </a:ln>
        </p:spPr>
        <p:txBody>
          <a:bodyPr anchor="ctr">
            <a:normAutofit/>
          </a:bodyPr>
          <a:lstStyle/>
          <a:p>
            <a:pPr algn="ctr">
              <a:defRPr sz="1275" b="0">
                <a:solidFill>
                  <a:srgbClr val="5B6570"/>
                </a:solidFill>
                <a:latin typeface="Arial"/>
                <a:ea typeface="Arial"/>
                <a:cs typeface="Arial"/>
              </a:defRPr>
            </a:pPr>
            <a:r>
              <a:rPr sz="1275" b="0" dirty="0">
                <a:solidFill>
                  <a:srgbClr val="5B6570"/>
                </a:solidFill>
                <a:latin typeface="Arial"/>
                <a:ea typeface="Arial"/>
                <a:cs typeface="Arial"/>
              </a:rPr>
              <a:t>Le </a:t>
            </a:r>
            <a:r>
              <a:rPr sz="1275" b="0" dirty="0" err="1">
                <a:solidFill>
                  <a:srgbClr val="5B6570"/>
                </a:solidFill>
                <a:latin typeface="Arial"/>
                <a:ea typeface="Arial"/>
                <a:cs typeface="Arial"/>
              </a:rPr>
              <a:t>mediane</a:t>
            </a:r>
            <a:r>
              <a:rPr sz="1275" b="0" dirty="0">
                <a:solidFill>
                  <a:srgbClr val="5B6570"/>
                </a:solidFill>
                <a:latin typeface="Arial"/>
                <a:ea typeface="Arial"/>
                <a:cs typeface="Arial"/>
              </a:rPr>
              <a:t> </a:t>
            </a:r>
            <a:r>
              <a:rPr sz="1275" b="0" dirty="0" err="1">
                <a:solidFill>
                  <a:srgbClr val="5B6570"/>
                </a:solidFill>
                <a:latin typeface="Arial"/>
                <a:ea typeface="Arial"/>
                <a:cs typeface="Arial"/>
              </a:rPr>
              <a:t>descrivono</a:t>
            </a:r>
            <a:r>
              <a:rPr sz="1275" b="0" dirty="0">
                <a:solidFill>
                  <a:srgbClr val="5B6570"/>
                </a:solidFill>
                <a:latin typeface="Arial"/>
                <a:ea typeface="Arial"/>
                <a:cs typeface="Arial"/>
              </a:rPr>
              <a:t> il </a:t>
            </a:r>
            <a:r>
              <a:rPr sz="1275" b="0" dirty="0" err="1">
                <a:solidFill>
                  <a:srgbClr val="5B6570"/>
                </a:solidFill>
                <a:latin typeface="Arial"/>
                <a:ea typeface="Arial"/>
                <a:cs typeface="Arial"/>
              </a:rPr>
              <a:t>campione</a:t>
            </a:r>
            <a:r>
              <a:rPr sz="1275" b="0" dirty="0">
                <a:solidFill>
                  <a:srgbClr val="5B6570"/>
                </a:solidFill>
                <a:latin typeface="Arial"/>
                <a:ea typeface="Arial"/>
                <a:cs typeface="Arial"/>
              </a:rPr>
              <a:t>. Senza un test </a:t>
            </a:r>
            <a:r>
              <a:rPr sz="1275" b="0" dirty="0" err="1">
                <a:solidFill>
                  <a:srgbClr val="5B6570"/>
                </a:solidFill>
                <a:latin typeface="Arial"/>
                <a:ea typeface="Arial"/>
                <a:cs typeface="Arial"/>
              </a:rPr>
              <a:t>dedicato</a:t>
            </a:r>
            <a:r>
              <a:rPr sz="1275" b="0" dirty="0">
                <a:solidFill>
                  <a:srgbClr val="5B6570"/>
                </a:solidFill>
                <a:latin typeface="Arial"/>
                <a:ea typeface="Arial"/>
                <a:cs typeface="Arial"/>
              </a:rPr>
              <a:t> non </a:t>
            </a:r>
            <a:r>
              <a:rPr sz="1275" b="0" dirty="0" err="1">
                <a:solidFill>
                  <a:srgbClr val="5B6570"/>
                </a:solidFill>
                <a:latin typeface="Arial"/>
                <a:ea typeface="Arial"/>
                <a:cs typeface="Arial"/>
              </a:rPr>
              <a:t>dimostrano</a:t>
            </a:r>
            <a:r>
              <a:rPr sz="1275" b="0" dirty="0">
                <a:solidFill>
                  <a:srgbClr val="5B6570"/>
                </a:solidFill>
                <a:latin typeface="Arial"/>
                <a:ea typeface="Arial"/>
                <a:cs typeface="Arial"/>
              </a:rPr>
              <a:t> </a:t>
            </a:r>
            <a:r>
              <a:rPr sz="1275" b="0" dirty="0" err="1">
                <a:solidFill>
                  <a:srgbClr val="5B6570"/>
                </a:solidFill>
                <a:latin typeface="Arial"/>
                <a:ea typeface="Arial"/>
                <a:cs typeface="Arial"/>
              </a:rPr>
              <a:t>differenze</a:t>
            </a:r>
            <a:r>
              <a:rPr sz="1275" b="0" dirty="0">
                <a:solidFill>
                  <a:srgbClr val="5B6570"/>
                </a:solidFill>
                <a:latin typeface="Arial"/>
                <a:ea typeface="Arial"/>
                <a:cs typeface="Arial"/>
              </a:rPr>
              <a:t> significative </a:t>
            </a:r>
            <a:r>
              <a:rPr sz="1275" b="0" dirty="0" err="1">
                <a:solidFill>
                  <a:srgbClr val="5B6570"/>
                </a:solidFill>
                <a:latin typeface="Arial"/>
                <a:ea typeface="Arial"/>
                <a:cs typeface="Arial"/>
              </a:rPr>
              <a:t>tra</a:t>
            </a:r>
            <a:r>
              <a:rPr sz="1275" b="0" dirty="0">
                <a:solidFill>
                  <a:srgbClr val="5B6570"/>
                </a:solidFill>
                <a:latin typeface="Arial"/>
                <a:ea typeface="Arial"/>
                <a:cs typeface="Arial"/>
              </a:rPr>
              <a:t> le </a:t>
            </a:r>
            <a:r>
              <a:rPr sz="1275" b="0" dirty="0" err="1">
                <a:solidFill>
                  <a:srgbClr val="5B6570"/>
                </a:solidFill>
                <a:latin typeface="Arial"/>
                <a:ea typeface="Arial"/>
                <a:cs typeface="Arial"/>
              </a:rPr>
              <a:t>fasi</a:t>
            </a:r>
            <a:r>
              <a:rPr sz="1275" b="0" dirty="0">
                <a:solidFill>
                  <a:srgbClr val="5B6570"/>
                </a:solidFill>
                <a:latin typeface="Arial"/>
                <a:ea typeface="Arial"/>
                <a:cs typeface="Arial"/>
              </a:rPr>
              <a:t>.</a:t>
            </a:r>
          </a:p>
        </p:txBody>
      </p:sp>
    </p:spTree>
    <p:extLst>
      <p:ext uri="{BB962C8B-B14F-4D97-AF65-F5344CB8AC3E}">
        <p14:creationId xmlns:p14="http://schemas.microsoft.com/office/powerpoint/2010/main" val="1544551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454725-8212-FBB9-6C67-62509237EAEA}"/>
              </a:ext>
            </a:extLst>
          </p:cNvPr>
          <p:cNvSpPr>
            <a:spLocks noGrp="1"/>
          </p:cNvSpPr>
          <p:nvPr>
            <p:ph type="title"/>
          </p:nvPr>
        </p:nvSpPr>
        <p:spPr/>
        <p:txBody>
          <a:bodyPr>
            <a:normAutofit/>
          </a:bodyPr>
          <a:lstStyle/>
          <a:p>
            <a:r>
              <a:rPr lang="it-IT" dirty="0"/>
              <a:t>Correlazione e regressione lineare</a:t>
            </a:r>
          </a:p>
        </p:txBody>
      </p:sp>
      <p:pic>
        <p:nvPicPr>
          <p:cNvPr id="5" name="Segnaposto contenuto 4">
            <a:extLst>
              <a:ext uri="{FF2B5EF4-FFF2-40B4-BE49-F238E27FC236}">
                <a16:creationId xmlns:a16="http://schemas.microsoft.com/office/drawing/2014/main" id="{382EE34E-774B-4818-08F2-3B8605C3BF1F}"/>
              </a:ext>
            </a:extLst>
          </p:cNvPr>
          <p:cNvPicPr>
            <a:picLocks noGrp="1" noChangeAspect="1"/>
          </p:cNvPicPr>
          <p:nvPr>
            <p:ph idx="1"/>
          </p:nvPr>
        </p:nvPicPr>
        <p:blipFill>
          <a:blip r:embed="rId3"/>
          <a:stretch>
            <a:fillRect/>
          </a:stretch>
        </p:blipFill>
        <p:spPr>
          <a:xfrm>
            <a:off x="949103" y="1629882"/>
            <a:ext cx="3854391" cy="5445262"/>
          </a:xfrm>
          <a:prstGeom prst="rect">
            <a:avLst/>
          </a:prstGeom>
        </p:spPr>
      </p:pic>
      <p:sp>
        <p:nvSpPr>
          <p:cNvPr id="11" name="CasellaDiTesto 10">
            <a:extLst>
              <a:ext uri="{FF2B5EF4-FFF2-40B4-BE49-F238E27FC236}">
                <a16:creationId xmlns:a16="http://schemas.microsoft.com/office/drawing/2014/main" id="{9845244A-F862-1147-820B-F01A104FAA09}"/>
              </a:ext>
            </a:extLst>
          </p:cNvPr>
          <p:cNvSpPr txBox="1"/>
          <p:nvPr/>
        </p:nvSpPr>
        <p:spPr>
          <a:xfrm>
            <a:off x="6018835" y="1906151"/>
            <a:ext cx="5000264" cy="1477328"/>
          </a:xfrm>
          <a:prstGeom prst="rect">
            <a:avLst/>
          </a:prstGeom>
          <a:noFill/>
        </p:spPr>
        <p:txBody>
          <a:bodyPr wrap="square">
            <a:spAutoFit/>
          </a:bodyPr>
          <a:lstStyle/>
          <a:p>
            <a:pPr algn="just"/>
            <a:r>
              <a:rPr lang="it-IT" dirty="0">
                <a:latin typeface="+mj-lt"/>
              </a:rPr>
              <a:t>Successivamente viene calcolato il coefficiente di correlazione di Pearson, per valutare quanto le due serie varino insieme secondo una relazione lineare.  La regressione lineare descrive invece la relazione tra le due misure attraverso il modello:</a:t>
            </a:r>
          </a:p>
        </p:txBody>
      </p:sp>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410336D7-EE63-9D9F-E738-B5EBB30D7240}"/>
                  </a:ext>
                </a:extLst>
              </p:cNvPr>
              <p:cNvSpPr txBox="1"/>
              <p:nvPr/>
            </p:nvSpPr>
            <p:spPr>
              <a:xfrm>
                <a:off x="7118430" y="3634451"/>
                <a:ext cx="2925737" cy="442109"/>
              </a:xfrm>
              <a:prstGeom prst="rect">
                <a:avLst/>
              </a:prstGeom>
              <a:noFill/>
            </p:spPr>
            <p:txBody>
              <a:bodyPr wrap="none" lIns="0" tIns="0" rIns="0" bIns="0" rtlCol="0">
                <a:spAutoFit/>
              </a:bodyPr>
              <a:lstStyle/>
              <a:p>
                <a:pPr/>
                <a14:m>
                  <m:oMathPara xmlns:m="http://schemas.openxmlformats.org/officeDocument/2006/math">
                    <m:oMath>
                      <m:acc>
                        <m:accPr>
                          <m:chr m:val="̂"/>
                          <m:ctrlPr>
                            <a:rPr lang="it-IT" sz="2800" b="0" i="1" smtClean="0">
                              <a:latin typeface="Cambria Math" panose="02040503050406030204" pitchFamily="18" charset="0"/>
                            </a:rPr>
                          </m:ctrlPr>
                        </m:accPr>
                        <m:e>
                          <m:r>
                            <a:rPr lang="it-IT" sz="2800" b="0" i="1" smtClean="0">
                              <a:latin typeface="Cambria Math" panose="02040503050406030204" pitchFamily="18" charset="0"/>
                            </a:rPr>
                            <m:t>𝑃𝑃𝐼</m:t>
                          </m:r>
                        </m:e>
                      </m:acc>
                      <m:r>
                        <a:rPr lang="it-IT" sz="2800" b="0" i="1" smtClean="0">
                          <a:latin typeface="Cambria Math" panose="02040503050406030204" pitchFamily="18" charset="0"/>
                        </a:rPr>
                        <m:t>=</m:t>
                      </m:r>
                      <m:r>
                        <a:rPr lang="it-IT" sz="2800" b="0" i="1" smtClean="0">
                          <a:latin typeface="Cambria Math" panose="02040503050406030204" pitchFamily="18" charset="0"/>
                        </a:rPr>
                        <m:t>𝑎</m:t>
                      </m:r>
                      <m:r>
                        <a:rPr lang="it-IT" sz="2800" b="0" i="1" smtClean="0">
                          <a:latin typeface="Cambria Math" panose="02040503050406030204" pitchFamily="18" charset="0"/>
                        </a:rPr>
                        <m:t> ∙</m:t>
                      </m:r>
                      <m:r>
                        <a:rPr lang="it-IT" sz="2800" b="0" i="1" smtClean="0">
                          <a:latin typeface="Cambria Math" panose="02040503050406030204" pitchFamily="18" charset="0"/>
                          <a:ea typeface="Cambria Math" panose="02040503050406030204" pitchFamily="18" charset="0"/>
                        </a:rPr>
                        <m:t>𝑅𝑅𝐼</m:t>
                      </m:r>
                      <m:r>
                        <a:rPr lang="it-IT" sz="2800" b="0" i="1" smtClean="0">
                          <a:latin typeface="Cambria Math" panose="02040503050406030204" pitchFamily="18" charset="0"/>
                          <a:ea typeface="Cambria Math" panose="02040503050406030204" pitchFamily="18" charset="0"/>
                        </a:rPr>
                        <m:t>+</m:t>
                      </m:r>
                      <m:r>
                        <a:rPr lang="it-IT" sz="2800" b="0" i="1" smtClean="0">
                          <a:latin typeface="Cambria Math" panose="02040503050406030204" pitchFamily="18" charset="0"/>
                          <a:ea typeface="Cambria Math" panose="02040503050406030204" pitchFamily="18" charset="0"/>
                        </a:rPr>
                        <m:t>𝑏</m:t>
                      </m:r>
                    </m:oMath>
                  </m:oMathPara>
                </a14:m>
                <a:endParaRPr lang="it-IT" sz="2800" i="1" dirty="0"/>
              </a:p>
            </p:txBody>
          </p:sp>
        </mc:Choice>
        <mc:Fallback xmlns="">
          <p:sp>
            <p:nvSpPr>
              <p:cNvPr id="12" name="CasellaDiTesto 11">
                <a:extLst>
                  <a:ext uri="{FF2B5EF4-FFF2-40B4-BE49-F238E27FC236}">
                    <a16:creationId xmlns:a16="http://schemas.microsoft.com/office/drawing/2014/main" id="{410336D7-EE63-9D9F-E738-B5EBB30D7240}"/>
                  </a:ext>
                </a:extLst>
              </p:cNvPr>
              <p:cNvSpPr txBox="1">
                <a:spLocks noRot="1" noChangeAspect="1" noMove="1" noResize="1" noEditPoints="1" noAdjustHandles="1" noChangeArrowheads="1" noChangeShapeType="1" noTextEdit="1"/>
              </p:cNvSpPr>
              <p:nvPr/>
            </p:nvSpPr>
            <p:spPr>
              <a:xfrm>
                <a:off x="7118430" y="3634451"/>
                <a:ext cx="2925737" cy="442109"/>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A533B9C3-0230-F33E-D050-F18A87486EA6}"/>
                  </a:ext>
                </a:extLst>
              </p:cNvPr>
              <p:cNvSpPr txBox="1"/>
              <p:nvPr/>
            </p:nvSpPr>
            <p:spPr>
              <a:xfrm>
                <a:off x="6134582" y="4625409"/>
                <a:ext cx="4849794" cy="923330"/>
              </a:xfrm>
              <a:prstGeom prst="rect">
                <a:avLst/>
              </a:prstGeom>
              <a:noFill/>
            </p:spPr>
            <p:txBody>
              <a:bodyPr wrap="square">
                <a:spAutoFit/>
              </a:bodyPr>
              <a:lstStyle/>
              <a:p>
                <a:pPr algn="just"/>
                <a:r>
                  <a:rPr lang="it-IT" dirty="0">
                    <a:latin typeface="+mj-lt"/>
                  </a:rPr>
                  <a:t>dove </a:t>
                </a:r>
                <a14:m>
                  <m:oMath xmlns:m="http://schemas.openxmlformats.org/officeDocument/2006/math">
                    <m:r>
                      <a:rPr lang="it-IT" i="1">
                        <a:latin typeface="Cambria Math" panose="02040503050406030204" pitchFamily="18" charset="0"/>
                      </a:rPr>
                      <m:t>𝑎</m:t>
                    </m:r>
                    <m:r>
                      <a:rPr lang="it-IT" i="1">
                        <a:latin typeface="Cambria Math" panose="02040503050406030204" pitchFamily="18" charset="0"/>
                      </a:rPr>
                      <m:t>  </m:t>
                    </m:r>
                  </m:oMath>
                </a14:m>
                <a:r>
                  <a:rPr lang="it-IT" dirty="0">
                    <a:latin typeface="+mj-lt"/>
                  </a:rPr>
                  <a:t>rappresenta la pendenza e </a:t>
                </a:r>
                <a14:m>
                  <m:oMath xmlns:m="http://schemas.openxmlformats.org/officeDocument/2006/math">
                    <m:r>
                      <a:rPr lang="it-IT" i="1">
                        <a:latin typeface="Cambria Math" panose="02040503050406030204" pitchFamily="18" charset="0"/>
                        <a:ea typeface="Cambria Math" panose="02040503050406030204" pitchFamily="18" charset="0"/>
                      </a:rPr>
                      <m:t>𝑏</m:t>
                    </m:r>
                    <m:r>
                      <a:rPr lang="it-IT" i="1">
                        <a:latin typeface="Cambria Math" panose="02040503050406030204" pitchFamily="18" charset="0"/>
                        <a:ea typeface="Cambria Math" panose="02040503050406030204" pitchFamily="18" charset="0"/>
                      </a:rPr>
                      <m:t> </m:t>
                    </m:r>
                  </m:oMath>
                </a14:m>
                <a:r>
                  <a:rPr lang="it-IT" dirty="0">
                    <a:latin typeface="+mj-lt"/>
                  </a:rPr>
                  <a:t>l’intercetta. Il coefficiente </a:t>
                </a:r>
                <a14:m>
                  <m:oMath xmlns:m="http://schemas.openxmlformats.org/officeDocument/2006/math">
                    <m:sSup>
                      <m:sSupPr>
                        <m:ctrlPr>
                          <a:rPr lang="it-IT" b="0" i="1" smtClean="0">
                            <a:latin typeface="Cambria Math" panose="02040503050406030204" pitchFamily="18" charset="0"/>
                            <a:ea typeface="Cambria Math" panose="02040503050406030204" pitchFamily="18" charset="0"/>
                          </a:rPr>
                        </m:ctrlPr>
                      </m:sSupPr>
                      <m:e>
                        <m:r>
                          <a:rPr lang="it-IT" b="0" i="1" smtClean="0">
                            <a:latin typeface="Cambria Math" panose="02040503050406030204" pitchFamily="18" charset="0"/>
                            <a:ea typeface="Cambria Math" panose="02040503050406030204" pitchFamily="18" charset="0"/>
                          </a:rPr>
                          <m:t>𝑅</m:t>
                        </m:r>
                      </m:e>
                      <m:sup>
                        <m:r>
                          <a:rPr lang="it-IT" b="0" i="1" smtClean="0">
                            <a:latin typeface="Cambria Math" panose="02040503050406030204" pitchFamily="18" charset="0"/>
                            <a:ea typeface="Cambria Math" panose="02040503050406030204" pitchFamily="18" charset="0"/>
                          </a:rPr>
                          <m:t>2</m:t>
                        </m:r>
                      </m:sup>
                    </m:sSup>
                    <m:r>
                      <a:rPr lang="it-IT" i="1">
                        <a:latin typeface="Cambria Math" panose="02040503050406030204" pitchFamily="18" charset="0"/>
                        <a:ea typeface="Cambria Math" panose="02040503050406030204" pitchFamily="18" charset="0"/>
                      </a:rPr>
                      <m:t> </m:t>
                    </m:r>
                  </m:oMath>
                </a14:m>
                <a:r>
                  <a:rPr lang="it-IT" dirty="0">
                    <a:latin typeface="+mj-lt"/>
                  </a:rPr>
                  <a:t>indica la percentuale di variabilità del PPI spiegata linearmente dal RRI.</a:t>
                </a:r>
              </a:p>
            </p:txBody>
          </p:sp>
        </mc:Choice>
        <mc:Fallback xmlns="">
          <p:sp>
            <p:nvSpPr>
              <p:cNvPr id="16" name="CasellaDiTesto 15">
                <a:extLst>
                  <a:ext uri="{FF2B5EF4-FFF2-40B4-BE49-F238E27FC236}">
                    <a16:creationId xmlns:a16="http://schemas.microsoft.com/office/drawing/2014/main" id="{A533B9C3-0230-F33E-D050-F18A87486EA6}"/>
                  </a:ext>
                </a:extLst>
              </p:cNvPr>
              <p:cNvSpPr txBox="1">
                <a:spLocks noRot="1" noChangeAspect="1" noMove="1" noResize="1" noEditPoints="1" noAdjustHandles="1" noChangeArrowheads="1" noChangeShapeType="1" noTextEdit="1"/>
              </p:cNvSpPr>
              <p:nvPr/>
            </p:nvSpPr>
            <p:spPr>
              <a:xfrm>
                <a:off x="6134582" y="4625409"/>
                <a:ext cx="4849794" cy="923330"/>
              </a:xfrm>
              <a:prstGeom prst="rect">
                <a:avLst/>
              </a:prstGeom>
              <a:blipFill>
                <a:blip r:embed="rId5"/>
                <a:stretch>
                  <a:fillRect l="-1005" t="-3311" r="-1005" b="-10596"/>
                </a:stretch>
              </a:blipFill>
            </p:spPr>
            <p:txBody>
              <a:bodyPr/>
              <a:lstStyle/>
              <a:p>
                <a:r>
                  <a:rPr lang="it-IT">
                    <a:noFill/>
                  </a:rPr>
                  <a:t> </a:t>
                </a:r>
              </a:p>
            </p:txBody>
          </p:sp>
        </mc:Fallback>
      </mc:AlternateContent>
    </p:spTree>
    <p:extLst>
      <p:ext uri="{BB962C8B-B14F-4D97-AF65-F5344CB8AC3E}">
        <p14:creationId xmlns:p14="http://schemas.microsoft.com/office/powerpoint/2010/main" val="3251597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2E7C44-167C-09D6-E4DE-8F01F71086AF}"/>
              </a:ext>
            </a:extLst>
          </p:cNvPr>
          <p:cNvSpPr>
            <a:spLocks noGrp="1"/>
          </p:cNvSpPr>
          <p:nvPr>
            <p:ph type="title"/>
          </p:nvPr>
        </p:nvSpPr>
        <p:spPr/>
        <p:txBody>
          <a:bodyPr/>
          <a:lstStyle/>
          <a:p>
            <a:r>
              <a:rPr lang="it-IT" dirty="0"/>
              <a:t>Risultati regressione </a:t>
            </a:r>
            <a:r>
              <a:rPr lang="it-IT" dirty="0" err="1"/>
              <a:t>rri-ppi</a:t>
            </a:r>
            <a:endParaRPr lang="it-IT" dirty="0"/>
          </a:p>
        </p:txBody>
      </p:sp>
      <p:pic>
        <p:nvPicPr>
          <p:cNvPr id="5" name="Segnaposto contenuto 4">
            <a:extLst>
              <a:ext uri="{FF2B5EF4-FFF2-40B4-BE49-F238E27FC236}">
                <a16:creationId xmlns:a16="http://schemas.microsoft.com/office/drawing/2014/main" id="{F23D724B-1ABB-AE64-5CE9-7797FDC7D2CD}"/>
              </a:ext>
            </a:extLst>
          </p:cNvPr>
          <p:cNvPicPr>
            <a:picLocks noGrp="1" noChangeAspect="1"/>
          </p:cNvPicPr>
          <p:nvPr>
            <p:ph idx="1"/>
          </p:nvPr>
        </p:nvPicPr>
        <p:blipFill>
          <a:blip r:embed="rId2"/>
          <a:stretch>
            <a:fillRect/>
          </a:stretch>
        </p:blipFill>
        <p:spPr>
          <a:xfrm>
            <a:off x="1851949" y="1465927"/>
            <a:ext cx="8169708" cy="3670226"/>
          </a:xfrm>
          <a:prstGeom prst="rect">
            <a:avLst/>
          </a:prstGeom>
        </p:spPr>
      </p:pic>
      <p:graphicFrame>
        <p:nvGraphicFramePr>
          <p:cNvPr id="7" name="Tabella 6">
            <a:extLst>
              <a:ext uri="{FF2B5EF4-FFF2-40B4-BE49-F238E27FC236}">
                <a16:creationId xmlns:a16="http://schemas.microsoft.com/office/drawing/2014/main" id="{3E0F35F1-8BD9-A1E2-B1BD-1BB8B5DB199F}"/>
              </a:ext>
            </a:extLst>
          </p:cNvPr>
          <p:cNvGraphicFramePr/>
          <p:nvPr>
            <p:extLst>
              <p:ext uri="{D42A27DB-BD31-4B8C-83A1-F6EECF244321}">
                <p14:modId xmlns:p14="http://schemas.microsoft.com/office/powerpoint/2010/main" val="3523010170"/>
              </p:ext>
            </p:extLst>
          </p:nvPr>
        </p:nvGraphicFramePr>
        <p:xfrm>
          <a:off x="1040154" y="5284687"/>
          <a:ext cx="9810750" cy="1381124"/>
        </p:xfrm>
        <a:graphic>
          <a:graphicData uri="http://schemas.openxmlformats.org/drawingml/2006/table">
            <a:tbl>
              <a:tblPr firstRow="1" bandRow="1"/>
              <a:tblGrid>
                <a:gridCol w="1962150">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1962150">
                  <a:extLst>
                    <a:ext uri="{9D8B030D-6E8A-4147-A177-3AD203B41FA5}">
                      <a16:colId xmlns:a16="http://schemas.microsoft.com/office/drawing/2014/main" val="20002"/>
                    </a:ext>
                  </a:extLst>
                </a:gridCol>
                <a:gridCol w="1962150">
                  <a:extLst>
                    <a:ext uri="{9D8B030D-6E8A-4147-A177-3AD203B41FA5}">
                      <a16:colId xmlns:a16="http://schemas.microsoft.com/office/drawing/2014/main" val="20003"/>
                    </a:ext>
                  </a:extLst>
                </a:gridCol>
                <a:gridCol w="1962150">
                  <a:extLst>
                    <a:ext uri="{9D8B030D-6E8A-4147-A177-3AD203B41FA5}">
                      <a16:colId xmlns:a16="http://schemas.microsoft.com/office/drawing/2014/main" val="20004"/>
                    </a:ext>
                  </a:extLst>
                </a:gridCol>
              </a:tblGrid>
              <a:tr h="345281">
                <a:tc>
                  <a:txBody>
                    <a:bodyPr/>
                    <a:lstStyle/>
                    <a:p>
                      <a:pPr algn="ctr"/>
                      <a:r>
                        <a:rPr sz="1050" b="1">
                          <a:solidFill>
                            <a:srgbClr val="FFFFFF"/>
                          </a:solidFill>
                          <a:latin typeface="Arial"/>
                          <a:ea typeface="Arial"/>
                          <a:cs typeface="Arial"/>
                        </a:rPr>
                        <a:t>Condizione</a:t>
                      </a:r>
                    </a:p>
                  </a:txBody>
                  <a:tcPr>
                    <a:solidFill>
                      <a:srgbClr val="123047"/>
                    </a:solidFill>
                  </a:tcPr>
                </a:tc>
                <a:tc>
                  <a:txBody>
                    <a:bodyPr/>
                    <a:lstStyle/>
                    <a:p>
                      <a:pPr algn="ctr"/>
                      <a:r>
                        <a:rPr sz="1050" b="1">
                          <a:solidFill>
                            <a:srgbClr val="FFFFFF"/>
                          </a:solidFill>
                          <a:latin typeface="Arial"/>
                          <a:ea typeface="Arial"/>
                          <a:cs typeface="Arial"/>
                        </a:rPr>
                        <a:t>r mediano</a:t>
                      </a:r>
                    </a:p>
                  </a:txBody>
                  <a:tcPr>
                    <a:solidFill>
                      <a:srgbClr val="123047"/>
                    </a:solidFill>
                  </a:tcPr>
                </a:tc>
                <a:tc>
                  <a:txBody>
                    <a:bodyPr/>
                    <a:lstStyle/>
                    <a:p>
                      <a:pPr algn="ctr"/>
                      <a:r>
                        <a:rPr sz="1050" b="1">
                          <a:solidFill>
                            <a:srgbClr val="FFFFFF"/>
                          </a:solidFill>
                          <a:latin typeface="Arial"/>
                          <a:ea typeface="Arial"/>
                          <a:cs typeface="Arial"/>
                        </a:rPr>
                        <a:t>a media</a:t>
                      </a:r>
                    </a:p>
                  </a:txBody>
                  <a:tcPr>
                    <a:solidFill>
                      <a:srgbClr val="123047"/>
                    </a:solidFill>
                  </a:tcPr>
                </a:tc>
                <a:tc>
                  <a:txBody>
                    <a:bodyPr/>
                    <a:lstStyle/>
                    <a:p>
                      <a:pPr algn="ctr"/>
                      <a:r>
                        <a:rPr sz="1050" b="1">
                          <a:solidFill>
                            <a:srgbClr val="FFFFFF"/>
                          </a:solidFill>
                          <a:latin typeface="Arial"/>
                          <a:ea typeface="Arial"/>
                          <a:cs typeface="Arial"/>
                        </a:rPr>
                        <a:t>b media (ms)</a:t>
                      </a:r>
                    </a:p>
                  </a:txBody>
                  <a:tcPr>
                    <a:solidFill>
                      <a:srgbClr val="123047"/>
                    </a:solidFill>
                  </a:tcPr>
                </a:tc>
                <a:tc>
                  <a:txBody>
                    <a:bodyPr/>
                    <a:lstStyle/>
                    <a:p>
                      <a:pPr algn="ctr"/>
                      <a:r>
                        <a:rPr sz="1050" b="1">
                          <a:solidFill>
                            <a:srgbClr val="FFFFFF"/>
                          </a:solidFill>
                          <a:latin typeface="Arial"/>
                          <a:ea typeface="Arial"/>
                          <a:cs typeface="Arial"/>
                        </a:rPr>
                        <a:t>R² medio</a:t>
                      </a:r>
                    </a:p>
                  </a:txBody>
                  <a:tcPr>
                    <a:solidFill>
                      <a:srgbClr val="123047"/>
                    </a:solidFill>
                  </a:tcPr>
                </a:tc>
                <a:extLst>
                  <a:ext uri="{0D108BD9-81ED-4DB2-BD59-A6C34878D82A}">
                    <a16:rowId xmlns:a16="http://schemas.microsoft.com/office/drawing/2014/main" val="10000"/>
                  </a:ext>
                </a:extLst>
              </a:tr>
              <a:tr h="345281">
                <a:tc>
                  <a:txBody>
                    <a:bodyPr/>
                    <a:lstStyle/>
                    <a:p>
                      <a:pPr algn="ctr"/>
                      <a:r>
                        <a:rPr sz="1050">
                          <a:solidFill>
                            <a:srgbClr val="242424"/>
                          </a:solidFill>
                          <a:latin typeface="Arial"/>
                          <a:ea typeface="Arial"/>
                          <a:cs typeface="Arial"/>
                        </a:rPr>
                        <a:t>REST</a:t>
                      </a:r>
                    </a:p>
                  </a:txBody>
                  <a:tcPr/>
                </a:tc>
                <a:tc>
                  <a:txBody>
                    <a:bodyPr/>
                    <a:lstStyle/>
                    <a:p>
                      <a:pPr algn="ctr"/>
                      <a:r>
                        <a:rPr sz="1050">
                          <a:solidFill>
                            <a:srgbClr val="242424"/>
                          </a:solidFill>
                          <a:latin typeface="Arial"/>
                          <a:ea typeface="Arial"/>
                          <a:cs typeface="Arial"/>
                        </a:rPr>
                        <a:t>0.993</a:t>
                      </a:r>
                    </a:p>
                  </a:txBody>
                  <a:tcPr/>
                </a:tc>
                <a:tc>
                  <a:txBody>
                    <a:bodyPr/>
                    <a:lstStyle/>
                    <a:p>
                      <a:pPr algn="ctr"/>
                      <a:r>
                        <a:rPr sz="1050">
                          <a:solidFill>
                            <a:srgbClr val="242424"/>
                          </a:solidFill>
                          <a:latin typeface="Arial"/>
                          <a:ea typeface="Arial"/>
                          <a:cs typeface="Arial"/>
                        </a:rPr>
                        <a:t>1.020</a:t>
                      </a:r>
                    </a:p>
                  </a:txBody>
                  <a:tcPr/>
                </a:tc>
                <a:tc>
                  <a:txBody>
                    <a:bodyPr/>
                    <a:lstStyle/>
                    <a:p>
                      <a:pPr algn="ctr"/>
                      <a:r>
                        <a:rPr sz="1050">
                          <a:solidFill>
                            <a:srgbClr val="242424"/>
                          </a:solidFill>
                          <a:latin typeface="Arial"/>
                          <a:ea typeface="Arial"/>
                          <a:cs typeface="Arial"/>
                        </a:rPr>
                        <a:t>−18.333</a:t>
                      </a:r>
                    </a:p>
                  </a:txBody>
                  <a:tcPr/>
                </a:tc>
                <a:tc>
                  <a:txBody>
                    <a:bodyPr/>
                    <a:lstStyle/>
                    <a:p>
                      <a:pPr algn="ctr"/>
                      <a:r>
                        <a:rPr sz="1050">
                          <a:solidFill>
                            <a:srgbClr val="242424"/>
                          </a:solidFill>
                          <a:latin typeface="Arial"/>
                          <a:ea typeface="Arial"/>
                          <a:cs typeface="Arial"/>
                        </a:rPr>
                        <a:t>0.982</a:t>
                      </a:r>
                    </a:p>
                  </a:txBody>
                  <a:tcPr/>
                </a:tc>
                <a:extLst>
                  <a:ext uri="{0D108BD9-81ED-4DB2-BD59-A6C34878D82A}">
                    <a16:rowId xmlns:a16="http://schemas.microsoft.com/office/drawing/2014/main" val="10001"/>
                  </a:ext>
                </a:extLst>
              </a:tr>
              <a:tr h="345281">
                <a:tc>
                  <a:txBody>
                    <a:bodyPr/>
                    <a:lstStyle/>
                    <a:p>
                      <a:pPr algn="ctr"/>
                      <a:r>
                        <a:rPr sz="1050">
                          <a:solidFill>
                            <a:srgbClr val="242424"/>
                          </a:solidFill>
                          <a:latin typeface="Arial"/>
                          <a:ea typeface="Arial"/>
                          <a:cs typeface="Arial"/>
                        </a:rPr>
                        <a:t>TILT</a:t>
                      </a:r>
                    </a:p>
                  </a:txBody>
                  <a:tcPr/>
                </a:tc>
                <a:tc>
                  <a:txBody>
                    <a:bodyPr/>
                    <a:lstStyle/>
                    <a:p>
                      <a:pPr algn="ctr"/>
                      <a:r>
                        <a:rPr sz="1050">
                          <a:solidFill>
                            <a:srgbClr val="242424"/>
                          </a:solidFill>
                          <a:latin typeface="Arial"/>
                          <a:ea typeface="Arial"/>
                          <a:cs typeface="Arial"/>
                        </a:rPr>
                        <a:t>0.987</a:t>
                      </a:r>
                    </a:p>
                  </a:txBody>
                  <a:tcPr/>
                </a:tc>
                <a:tc>
                  <a:txBody>
                    <a:bodyPr/>
                    <a:lstStyle/>
                    <a:p>
                      <a:pPr algn="ctr"/>
                      <a:r>
                        <a:rPr sz="1050">
                          <a:solidFill>
                            <a:srgbClr val="242424"/>
                          </a:solidFill>
                          <a:latin typeface="Arial"/>
                          <a:ea typeface="Arial"/>
                          <a:cs typeface="Arial"/>
                        </a:rPr>
                        <a:t>1.036</a:t>
                      </a:r>
                    </a:p>
                  </a:txBody>
                  <a:tcPr/>
                </a:tc>
                <a:tc>
                  <a:txBody>
                    <a:bodyPr/>
                    <a:lstStyle/>
                    <a:p>
                      <a:pPr algn="ctr"/>
                      <a:r>
                        <a:rPr sz="1050">
                          <a:solidFill>
                            <a:srgbClr val="242424"/>
                          </a:solidFill>
                          <a:latin typeface="Arial"/>
                          <a:ea typeface="Arial"/>
                          <a:cs typeface="Arial"/>
                        </a:rPr>
                        <a:t>−25.149</a:t>
                      </a:r>
                    </a:p>
                  </a:txBody>
                  <a:tcPr/>
                </a:tc>
                <a:tc>
                  <a:txBody>
                    <a:bodyPr/>
                    <a:lstStyle/>
                    <a:p>
                      <a:pPr algn="ctr"/>
                      <a:r>
                        <a:rPr sz="1050">
                          <a:solidFill>
                            <a:srgbClr val="242424"/>
                          </a:solidFill>
                          <a:latin typeface="Arial"/>
                          <a:ea typeface="Arial"/>
                          <a:cs typeface="Arial"/>
                        </a:rPr>
                        <a:t>0.969</a:t>
                      </a:r>
                    </a:p>
                  </a:txBody>
                  <a:tcPr/>
                </a:tc>
                <a:extLst>
                  <a:ext uri="{0D108BD9-81ED-4DB2-BD59-A6C34878D82A}">
                    <a16:rowId xmlns:a16="http://schemas.microsoft.com/office/drawing/2014/main" val="10002"/>
                  </a:ext>
                </a:extLst>
              </a:tr>
              <a:tr h="345281">
                <a:tc>
                  <a:txBody>
                    <a:bodyPr/>
                    <a:lstStyle/>
                    <a:p>
                      <a:pPr algn="ctr"/>
                      <a:r>
                        <a:rPr sz="1050" dirty="0">
                          <a:solidFill>
                            <a:srgbClr val="242424"/>
                          </a:solidFill>
                          <a:latin typeface="Arial"/>
                          <a:ea typeface="Arial"/>
                          <a:cs typeface="Arial"/>
                        </a:rPr>
                        <a:t>MENTAL</a:t>
                      </a:r>
                      <a:r>
                        <a:rPr lang="it-IT" sz="1050" dirty="0">
                          <a:solidFill>
                            <a:srgbClr val="242424"/>
                          </a:solidFill>
                          <a:latin typeface="Arial"/>
                          <a:ea typeface="Arial"/>
                          <a:cs typeface="Arial"/>
                        </a:rPr>
                        <a:t> ARITHMETIC</a:t>
                      </a:r>
                      <a:endParaRPr sz="1050" dirty="0">
                        <a:solidFill>
                          <a:srgbClr val="242424"/>
                        </a:solidFill>
                        <a:latin typeface="Arial"/>
                        <a:ea typeface="Arial"/>
                        <a:cs typeface="Arial"/>
                      </a:endParaRPr>
                    </a:p>
                  </a:txBody>
                  <a:tcPr/>
                </a:tc>
                <a:tc>
                  <a:txBody>
                    <a:bodyPr/>
                    <a:lstStyle/>
                    <a:p>
                      <a:pPr algn="ctr"/>
                      <a:r>
                        <a:rPr sz="1050">
                          <a:solidFill>
                            <a:srgbClr val="242424"/>
                          </a:solidFill>
                          <a:latin typeface="Arial"/>
                          <a:ea typeface="Arial"/>
                          <a:cs typeface="Arial"/>
                        </a:rPr>
                        <a:t>0.992</a:t>
                      </a:r>
                    </a:p>
                  </a:txBody>
                  <a:tcPr/>
                </a:tc>
                <a:tc>
                  <a:txBody>
                    <a:bodyPr/>
                    <a:lstStyle/>
                    <a:p>
                      <a:pPr algn="ctr"/>
                      <a:r>
                        <a:rPr sz="1050">
                          <a:solidFill>
                            <a:srgbClr val="242424"/>
                          </a:solidFill>
                          <a:latin typeface="Arial"/>
                          <a:ea typeface="Arial"/>
                          <a:cs typeface="Arial"/>
                        </a:rPr>
                        <a:t>1.015</a:t>
                      </a:r>
                    </a:p>
                  </a:txBody>
                  <a:tcPr/>
                </a:tc>
                <a:tc>
                  <a:txBody>
                    <a:bodyPr/>
                    <a:lstStyle/>
                    <a:p>
                      <a:pPr algn="ctr"/>
                      <a:r>
                        <a:rPr sz="1050">
                          <a:solidFill>
                            <a:srgbClr val="242424"/>
                          </a:solidFill>
                          <a:latin typeface="Arial"/>
                          <a:ea typeface="Arial"/>
                          <a:cs typeface="Arial"/>
                        </a:rPr>
                        <a:t>−11.407</a:t>
                      </a:r>
                    </a:p>
                  </a:txBody>
                  <a:tcPr/>
                </a:tc>
                <a:tc>
                  <a:txBody>
                    <a:bodyPr/>
                    <a:lstStyle/>
                    <a:p>
                      <a:pPr algn="ctr"/>
                      <a:r>
                        <a:rPr sz="1050" dirty="0">
                          <a:solidFill>
                            <a:srgbClr val="242424"/>
                          </a:solidFill>
                          <a:latin typeface="Arial"/>
                          <a:ea typeface="Arial"/>
                          <a:cs typeface="Arial"/>
                        </a:rPr>
                        <a:t>0.969</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77025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B04207-4CEF-262B-CDDA-43D9BF7B874C}"/>
              </a:ext>
            </a:extLst>
          </p:cNvPr>
          <p:cNvSpPr>
            <a:spLocks noGrp="1"/>
          </p:cNvSpPr>
          <p:nvPr>
            <p:ph type="title"/>
          </p:nvPr>
        </p:nvSpPr>
        <p:spPr/>
        <p:txBody>
          <a:bodyPr>
            <a:normAutofit/>
          </a:bodyPr>
          <a:lstStyle/>
          <a:p>
            <a:r>
              <a:rPr lang="it-IT" dirty="0"/>
              <a:t>Pre-elaborazione e ordine del modello</a:t>
            </a:r>
          </a:p>
        </p:txBody>
      </p:sp>
      <p:pic>
        <p:nvPicPr>
          <p:cNvPr id="5" name="Segnaposto contenuto 4">
            <a:extLst>
              <a:ext uri="{FF2B5EF4-FFF2-40B4-BE49-F238E27FC236}">
                <a16:creationId xmlns:a16="http://schemas.microsoft.com/office/drawing/2014/main" id="{25115D7C-8862-BB3D-EC40-D5EB53F56376}"/>
              </a:ext>
            </a:extLst>
          </p:cNvPr>
          <p:cNvPicPr>
            <a:picLocks noGrp="1" noChangeAspect="1"/>
          </p:cNvPicPr>
          <p:nvPr>
            <p:ph idx="1"/>
          </p:nvPr>
        </p:nvPicPr>
        <p:blipFill>
          <a:blip r:embed="rId3"/>
          <a:stretch>
            <a:fillRect/>
          </a:stretch>
        </p:blipFill>
        <p:spPr>
          <a:xfrm>
            <a:off x="1805651" y="1566119"/>
            <a:ext cx="2419108" cy="2678904"/>
          </a:xfrm>
          <a:prstGeom prst="rect">
            <a:avLst/>
          </a:prstGeom>
        </p:spPr>
      </p:pic>
      <p:sp>
        <p:nvSpPr>
          <p:cNvPr id="7" name="CasellaDiTesto 6">
            <a:extLst>
              <a:ext uri="{FF2B5EF4-FFF2-40B4-BE49-F238E27FC236}">
                <a16:creationId xmlns:a16="http://schemas.microsoft.com/office/drawing/2014/main" id="{D641A905-5FF9-F6F8-C413-D1A8E4C9916E}"/>
              </a:ext>
            </a:extLst>
          </p:cNvPr>
          <p:cNvSpPr txBox="1"/>
          <p:nvPr/>
        </p:nvSpPr>
        <p:spPr>
          <a:xfrm>
            <a:off x="5084180" y="2102920"/>
            <a:ext cx="5576103" cy="1754326"/>
          </a:xfrm>
          <a:prstGeom prst="rect">
            <a:avLst/>
          </a:prstGeom>
          <a:noFill/>
        </p:spPr>
        <p:txBody>
          <a:bodyPr wrap="square">
            <a:spAutoFit/>
          </a:bodyPr>
          <a:lstStyle/>
          <a:p>
            <a:pPr algn="just"/>
            <a:r>
              <a:rPr lang="it-IT" dirty="0">
                <a:latin typeface="+mj-lt"/>
              </a:rPr>
              <a:t>Le serie RRI e PPI vengono costruite a partire dai tempi dei picchi. Successivamente viene rimosso un trend polinomiale di ordine 8 e ogni serie viene centrata sottraendo il proprio valore medio. Il </a:t>
            </a:r>
            <a:r>
              <a:rPr lang="it-IT" dirty="0" err="1">
                <a:latin typeface="+mj-lt"/>
              </a:rPr>
              <a:t>preprocessing</a:t>
            </a:r>
            <a:r>
              <a:rPr lang="it-IT" dirty="0">
                <a:latin typeface="+mj-lt"/>
              </a:rPr>
              <a:t> consente di concentrare l’analisi sulle oscillazioni battito per battito.</a:t>
            </a:r>
          </a:p>
        </p:txBody>
      </p:sp>
      <p:sp>
        <p:nvSpPr>
          <p:cNvPr id="9" name="CasellaDiTesto 8">
            <a:extLst>
              <a:ext uri="{FF2B5EF4-FFF2-40B4-BE49-F238E27FC236}">
                <a16:creationId xmlns:a16="http://schemas.microsoft.com/office/drawing/2014/main" id="{9344F5E3-3CA0-8368-DB61-A8B7CFF97DEB}"/>
              </a:ext>
            </a:extLst>
          </p:cNvPr>
          <p:cNvSpPr txBox="1"/>
          <p:nvPr/>
        </p:nvSpPr>
        <p:spPr>
          <a:xfrm>
            <a:off x="940444" y="4707225"/>
            <a:ext cx="6094070" cy="1200329"/>
          </a:xfrm>
          <a:prstGeom prst="rect">
            <a:avLst/>
          </a:prstGeom>
          <a:noFill/>
        </p:spPr>
        <p:txBody>
          <a:bodyPr wrap="square">
            <a:spAutoFit/>
          </a:bodyPr>
          <a:lstStyle/>
          <a:p>
            <a:pPr algn="just"/>
            <a:r>
              <a:rPr lang="it-IT" dirty="0">
                <a:latin typeface="+mj-lt"/>
              </a:rPr>
              <a:t>Per ogni soggetto e condizione, l’ordine p del modello viene selezionato mediante il criterio di </a:t>
            </a:r>
            <a:r>
              <a:rPr lang="it-IT" dirty="0" err="1">
                <a:latin typeface="+mj-lt"/>
              </a:rPr>
              <a:t>Akaike</a:t>
            </a:r>
            <a:r>
              <a:rPr lang="it-IT" dirty="0">
                <a:latin typeface="+mj-lt"/>
              </a:rPr>
              <a:t>, considerando un ordine massimo pari a 12. Il criterio ricerca un compromesso tra capacità descrittiva e complessità del modello.</a:t>
            </a:r>
          </a:p>
        </p:txBody>
      </p:sp>
      <p:pic>
        <p:nvPicPr>
          <p:cNvPr id="11" name="Immagine 10">
            <a:extLst>
              <a:ext uri="{FF2B5EF4-FFF2-40B4-BE49-F238E27FC236}">
                <a16:creationId xmlns:a16="http://schemas.microsoft.com/office/drawing/2014/main" id="{9531F58A-34C3-F411-AB5B-10042E715F0C}"/>
              </a:ext>
            </a:extLst>
          </p:cNvPr>
          <p:cNvPicPr>
            <a:picLocks noChangeAspect="1"/>
          </p:cNvPicPr>
          <p:nvPr/>
        </p:nvPicPr>
        <p:blipFill>
          <a:blip r:embed="rId4"/>
          <a:stretch>
            <a:fillRect/>
          </a:stretch>
        </p:blipFill>
        <p:spPr>
          <a:xfrm>
            <a:off x="7448216" y="4634703"/>
            <a:ext cx="3281516" cy="1418084"/>
          </a:xfrm>
          <a:prstGeom prst="rect">
            <a:avLst/>
          </a:prstGeom>
        </p:spPr>
      </p:pic>
      <p:pic>
        <p:nvPicPr>
          <p:cNvPr id="13" name="Immagine 12">
            <a:extLst>
              <a:ext uri="{FF2B5EF4-FFF2-40B4-BE49-F238E27FC236}">
                <a16:creationId xmlns:a16="http://schemas.microsoft.com/office/drawing/2014/main" id="{2F91121F-BB22-7335-BC08-447CA7E95F91}"/>
              </a:ext>
            </a:extLst>
          </p:cNvPr>
          <p:cNvPicPr>
            <a:picLocks noChangeAspect="1"/>
          </p:cNvPicPr>
          <p:nvPr/>
        </p:nvPicPr>
        <p:blipFill>
          <a:blip r:embed="rId5"/>
          <a:stretch>
            <a:fillRect/>
          </a:stretch>
        </p:blipFill>
        <p:spPr>
          <a:xfrm>
            <a:off x="2549589" y="5941666"/>
            <a:ext cx="2933576" cy="757332"/>
          </a:xfrm>
          <a:prstGeom prst="rect">
            <a:avLst/>
          </a:prstGeom>
        </p:spPr>
      </p:pic>
    </p:spTree>
    <p:extLst>
      <p:ext uri="{BB962C8B-B14F-4D97-AF65-F5344CB8AC3E}">
        <p14:creationId xmlns:p14="http://schemas.microsoft.com/office/powerpoint/2010/main" val="1683218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525912-6413-8F97-5283-F8C68A35B1CE}"/>
              </a:ext>
            </a:extLst>
          </p:cNvPr>
          <p:cNvSpPr>
            <a:spLocks noGrp="1"/>
          </p:cNvSpPr>
          <p:nvPr>
            <p:ph type="title"/>
          </p:nvPr>
        </p:nvSpPr>
        <p:spPr/>
        <p:txBody>
          <a:bodyPr>
            <a:normAutofit/>
          </a:bodyPr>
          <a:lstStyle/>
          <a:p>
            <a:r>
              <a:rPr lang="it-IT" dirty="0"/>
              <a:t>Causalità di Granger da modelli di regressione</a:t>
            </a:r>
          </a:p>
        </p:txBody>
      </p:sp>
      <p:pic>
        <p:nvPicPr>
          <p:cNvPr id="5" name="Segnaposto contenuto 4">
            <a:extLst>
              <a:ext uri="{FF2B5EF4-FFF2-40B4-BE49-F238E27FC236}">
                <a16:creationId xmlns:a16="http://schemas.microsoft.com/office/drawing/2014/main" id="{62779E82-2B02-1004-3E2D-5EAA7CC8B55E}"/>
              </a:ext>
            </a:extLst>
          </p:cNvPr>
          <p:cNvPicPr>
            <a:picLocks noGrp="1" noChangeAspect="1"/>
          </p:cNvPicPr>
          <p:nvPr>
            <p:ph idx="1"/>
          </p:nvPr>
        </p:nvPicPr>
        <p:blipFill>
          <a:blip r:embed="rId3"/>
          <a:stretch>
            <a:fillRect/>
          </a:stretch>
        </p:blipFill>
        <p:spPr>
          <a:xfrm>
            <a:off x="1053636" y="1687266"/>
            <a:ext cx="4372327" cy="1472624"/>
          </a:xfrm>
          <a:prstGeom prst="rect">
            <a:avLst/>
          </a:prstGeom>
        </p:spPr>
      </p:pic>
      <p:pic>
        <p:nvPicPr>
          <p:cNvPr id="7" name="Immagine 6">
            <a:extLst>
              <a:ext uri="{FF2B5EF4-FFF2-40B4-BE49-F238E27FC236}">
                <a16:creationId xmlns:a16="http://schemas.microsoft.com/office/drawing/2014/main" id="{74D73B05-059D-F4C9-921B-F9965A37A704}"/>
              </a:ext>
            </a:extLst>
          </p:cNvPr>
          <p:cNvPicPr>
            <a:picLocks noChangeAspect="1"/>
          </p:cNvPicPr>
          <p:nvPr/>
        </p:nvPicPr>
        <p:blipFill>
          <a:blip r:embed="rId4"/>
          <a:stretch>
            <a:fillRect/>
          </a:stretch>
        </p:blipFill>
        <p:spPr>
          <a:xfrm>
            <a:off x="6032580" y="1697107"/>
            <a:ext cx="4778173" cy="1498381"/>
          </a:xfrm>
          <a:prstGeom prst="rect">
            <a:avLst/>
          </a:prstGeom>
        </p:spPr>
      </p:pic>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DD00DE88-D30D-191B-31E7-2C3E4657AD6C}"/>
                  </a:ext>
                </a:extLst>
              </p:cNvPr>
              <p:cNvSpPr txBox="1"/>
              <p:nvPr/>
            </p:nvSpPr>
            <p:spPr>
              <a:xfrm>
                <a:off x="1496029" y="3516687"/>
                <a:ext cx="3087546" cy="455446"/>
              </a:xfrm>
              <a:prstGeom prst="rect">
                <a:avLst/>
              </a:prstGeom>
              <a:noFill/>
            </p:spPr>
            <p:txBody>
              <a:bodyPr wrap="square">
                <a:spAutoFit/>
              </a:bodyPr>
              <a:lstStyle/>
              <a:p>
                <a14:m>
                  <m:oMath xmlns:m="http://schemas.openxmlformats.org/officeDocument/2006/math">
                    <m:sSub>
                      <m:sSubPr>
                        <m:ctrlPr>
                          <a:rPr lang="it-IT" sz="2200" b="1" i="1" smtClean="0">
                            <a:latin typeface="Cambria Math" panose="02040503050406030204" pitchFamily="18" charset="0"/>
                          </a:rPr>
                        </m:ctrlPr>
                      </m:sSubPr>
                      <m:e>
                        <m:r>
                          <a:rPr lang="it-IT" sz="2200" b="1" i="1" smtClean="0">
                            <a:latin typeface="Cambria Math" panose="02040503050406030204" pitchFamily="18" charset="0"/>
                          </a:rPr>
                          <m:t>𝑷𝑷𝑰</m:t>
                        </m:r>
                      </m:e>
                      <m:sub>
                        <m:r>
                          <a:rPr lang="it-IT" sz="2200" b="1" i="1" smtClean="0">
                            <a:latin typeface="Cambria Math" panose="02040503050406030204" pitchFamily="18" charset="0"/>
                          </a:rPr>
                          <m:t>𝒏</m:t>
                        </m:r>
                      </m:sub>
                    </m:sSub>
                    <m:r>
                      <a:rPr lang="it-IT" sz="2200" b="1" i="1" smtClean="0">
                        <a:latin typeface="Cambria Math" panose="02040503050406030204" pitchFamily="18" charset="0"/>
                      </a:rPr>
                      <m:t>=</m:t>
                    </m:r>
                    <m:sSubSup>
                      <m:sSubSupPr>
                        <m:ctrlPr>
                          <a:rPr lang="it-IT" sz="2200" b="1" i="1" smtClean="0">
                            <a:latin typeface="Cambria Math" panose="02040503050406030204" pitchFamily="18" charset="0"/>
                          </a:rPr>
                        </m:ctrlPr>
                      </m:sSubSupPr>
                      <m:e>
                        <m:r>
                          <a:rPr lang="it-IT" sz="2200" b="1" i="1" smtClean="0">
                            <a:latin typeface="Cambria Math" panose="02040503050406030204" pitchFamily="18" charset="0"/>
                          </a:rPr>
                          <m:t>𝑷𝑷𝑰</m:t>
                        </m:r>
                      </m:e>
                      <m:sub>
                        <m:r>
                          <a:rPr lang="it-IT" sz="2200" b="1" i="1" smtClean="0">
                            <a:latin typeface="Cambria Math" panose="02040503050406030204" pitchFamily="18" charset="0"/>
                          </a:rPr>
                          <m:t>𝒏</m:t>
                        </m:r>
                      </m:sub>
                      <m:sup>
                        <m:r>
                          <a:rPr lang="it-IT" sz="2200" b="1" i="1" smtClean="0">
                            <a:latin typeface="Cambria Math" panose="02040503050406030204" pitchFamily="18" charset="0"/>
                          </a:rPr>
                          <m:t>𝒑</m:t>
                        </m:r>
                      </m:sup>
                    </m:sSubSup>
                    <m:r>
                      <a:rPr lang="it-IT" sz="2200" b="1" i="1" smtClean="0">
                        <a:latin typeface="Cambria Math" panose="02040503050406030204" pitchFamily="18" charset="0"/>
                        <a:ea typeface="Cambria Math" panose="02040503050406030204" pitchFamily="18" charset="0"/>
                      </a:rPr>
                      <m:t>∙</m:t>
                    </m:r>
                    <m:r>
                      <a:rPr lang="it-IT" sz="2200" b="1" i="1" smtClean="0">
                        <a:latin typeface="Cambria Math" panose="02040503050406030204" pitchFamily="18" charset="0"/>
                        <a:ea typeface="Cambria Math" panose="02040503050406030204" pitchFamily="18" charset="0"/>
                      </a:rPr>
                      <m:t>𝑨</m:t>
                    </m:r>
                    <m:r>
                      <a:rPr lang="it-IT" sz="2200" b="1" i="1" smtClean="0">
                        <a:latin typeface="Cambria Math" panose="02040503050406030204" pitchFamily="18" charset="0"/>
                        <a:ea typeface="Cambria Math" panose="02040503050406030204" pitchFamily="18" charset="0"/>
                      </a:rPr>
                      <m:t>+</m:t>
                    </m:r>
                    <m:sSub>
                      <m:sSubPr>
                        <m:ctrlPr>
                          <a:rPr lang="it-IT" sz="2200" b="1" i="1" smtClean="0">
                            <a:latin typeface="Cambria Math" panose="02040503050406030204" pitchFamily="18" charset="0"/>
                            <a:ea typeface="Cambria Math" panose="02040503050406030204" pitchFamily="18" charset="0"/>
                          </a:rPr>
                        </m:ctrlPr>
                      </m:sSubPr>
                      <m:e>
                        <m:r>
                          <a:rPr lang="it-IT" sz="2200" b="1" i="1" smtClean="0">
                            <a:latin typeface="Cambria Math" panose="02040503050406030204" pitchFamily="18" charset="0"/>
                            <a:ea typeface="Cambria Math" panose="02040503050406030204" pitchFamily="18" charset="0"/>
                          </a:rPr>
                          <m:t>𝑼</m:t>
                        </m:r>
                      </m:e>
                      <m:sub>
                        <m:r>
                          <a:rPr lang="it-IT" sz="2200" b="1" i="1" smtClean="0">
                            <a:latin typeface="Cambria Math" panose="02040503050406030204" pitchFamily="18" charset="0"/>
                            <a:ea typeface="Cambria Math" panose="02040503050406030204" pitchFamily="18" charset="0"/>
                          </a:rPr>
                          <m:t>𝒏</m:t>
                        </m:r>
                      </m:sub>
                    </m:sSub>
                  </m:oMath>
                </a14:m>
                <a:r>
                  <a:rPr lang="it-IT" sz="2200" b="1" dirty="0"/>
                  <a:t> </a:t>
                </a:r>
                <a:endParaRPr lang="it-IT" dirty="0"/>
              </a:p>
            </p:txBody>
          </p:sp>
        </mc:Choice>
        <mc:Fallback xmlns="">
          <p:sp>
            <p:nvSpPr>
              <p:cNvPr id="9" name="CasellaDiTesto 8">
                <a:extLst>
                  <a:ext uri="{FF2B5EF4-FFF2-40B4-BE49-F238E27FC236}">
                    <a16:creationId xmlns:a16="http://schemas.microsoft.com/office/drawing/2014/main" id="{DD00DE88-D30D-191B-31E7-2C3E4657AD6C}"/>
                  </a:ext>
                </a:extLst>
              </p:cNvPr>
              <p:cNvSpPr txBox="1">
                <a:spLocks noRot="1" noChangeAspect="1" noMove="1" noResize="1" noEditPoints="1" noAdjustHandles="1" noChangeArrowheads="1" noChangeShapeType="1" noTextEdit="1"/>
              </p:cNvSpPr>
              <p:nvPr/>
            </p:nvSpPr>
            <p:spPr>
              <a:xfrm>
                <a:off x="1496029" y="3516687"/>
                <a:ext cx="3087546" cy="455446"/>
              </a:xfrm>
              <a:prstGeom prst="rect">
                <a:avLst/>
              </a:prstGeom>
              <a:blipFill>
                <a:blip r:embed="rId5"/>
                <a:stretch>
                  <a:fillRect l="-197"/>
                </a:stretch>
              </a:blipFill>
            </p:spPr>
            <p:txBody>
              <a:bodyPr/>
              <a:lstStyle/>
              <a:p>
                <a:r>
                  <a:rPr lang="it-IT">
                    <a:noFill/>
                  </a:rPr>
                  <a:t> </a:t>
                </a:r>
              </a:p>
            </p:txBody>
          </p:sp>
        </mc:Fallback>
      </mc:AlternateContent>
      <p:sp>
        <p:nvSpPr>
          <p:cNvPr id="11" name="Rettangolo 10">
            <a:extLst>
              <a:ext uri="{FF2B5EF4-FFF2-40B4-BE49-F238E27FC236}">
                <a16:creationId xmlns:a16="http://schemas.microsoft.com/office/drawing/2014/main" id="{5C1BA772-8FE2-DDC0-76E8-D30E23FB29DF}"/>
              </a:ext>
            </a:extLst>
          </p:cNvPr>
          <p:cNvSpPr>
            <a:spLocks noGrp="1"/>
          </p:cNvSpPr>
          <p:nvPr/>
        </p:nvSpPr>
        <p:spPr>
          <a:xfrm>
            <a:off x="1299741" y="3103824"/>
            <a:ext cx="3238500" cy="361950"/>
          </a:xfrm>
          <a:prstGeom prst="rect">
            <a:avLst/>
          </a:prstGeom>
          <a:noFill/>
          <a:ln w="0">
            <a:noFill/>
          </a:ln>
        </p:spPr>
        <p:txBody>
          <a:bodyPr anchor="ctr">
            <a:normAutofit/>
          </a:bodyPr>
          <a:lstStyle/>
          <a:p>
            <a:pPr algn="ctr">
              <a:defRPr sz="1650" b="1">
                <a:solidFill>
                  <a:srgbClr val="0077B5"/>
                </a:solidFill>
                <a:latin typeface="Arial"/>
                <a:ea typeface="Arial"/>
                <a:cs typeface="Arial"/>
              </a:defRPr>
            </a:pPr>
            <a:r>
              <a:rPr sz="1650" b="1" dirty="0" err="1">
                <a:solidFill>
                  <a:srgbClr val="0077B5"/>
                </a:solidFill>
                <a:latin typeface="+mj-lt"/>
                <a:ea typeface="Arial"/>
                <a:cs typeface="Arial"/>
              </a:rPr>
              <a:t>Modello</a:t>
            </a:r>
            <a:r>
              <a:rPr sz="1650" b="1" dirty="0">
                <a:solidFill>
                  <a:srgbClr val="0077B5"/>
                </a:solidFill>
                <a:latin typeface="+mj-lt"/>
                <a:ea typeface="Arial"/>
                <a:cs typeface="Arial"/>
              </a:rPr>
              <a:t> ristretto</a:t>
            </a:r>
          </a:p>
        </p:txBody>
      </p:sp>
      <p:sp>
        <p:nvSpPr>
          <p:cNvPr id="13" name="Rettangolo 12">
            <a:extLst>
              <a:ext uri="{FF2B5EF4-FFF2-40B4-BE49-F238E27FC236}">
                <a16:creationId xmlns:a16="http://schemas.microsoft.com/office/drawing/2014/main" id="{366943C5-CF12-FD1E-0969-F8B7A4713F8E}"/>
              </a:ext>
            </a:extLst>
          </p:cNvPr>
          <p:cNvSpPr>
            <a:spLocks noGrp="1"/>
          </p:cNvSpPr>
          <p:nvPr/>
        </p:nvSpPr>
        <p:spPr>
          <a:xfrm>
            <a:off x="6843531" y="3161697"/>
            <a:ext cx="3238500" cy="361950"/>
          </a:xfrm>
          <a:prstGeom prst="rect">
            <a:avLst/>
          </a:prstGeom>
          <a:noFill/>
          <a:ln w="0">
            <a:noFill/>
          </a:ln>
        </p:spPr>
        <p:txBody>
          <a:bodyPr anchor="ctr">
            <a:normAutofit/>
          </a:bodyPr>
          <a:lstStyle/>
          <a:p>
            <a:pPr algn="ctr">
              <a:defRPr sz="1650" b="1">
                <a:solidFill>
                  <a:srgbClr val="E85D04"/>
                </a:solidFill>
                <a:latin typeface="Arial"/>
                <a:ea typeface="Arial"/>
                <a:cs typeface="Arial"/>
              </a:defRPr>
            </a:pPr>
            <a:r>
              <a:rPr sz="1650" b="1" dirty="0" err="1">
                <a:solidFill>
                  <a:srgbClr val="E85D04"/>
                </a:solidFill>
                <a:latin typeface="+mj-lt"/>
                <a:ea typeface="Arial"/>
                <a:cs typeface="Arial"/>
              </a:rPr>
              <a:t>Modello</a:t>
            </a:r>
            <a:r>
              <a:rPr sz="1650" b="1" dirty="0">
                <a:solidFill>
                  <a:srgbClr val="E85D04"/>
                </a:solidFill>
                <a:latin typeface="+mj-lt"/>
                <a:ea typeface="Arial"/>
                <a:cs typeface="Arial"/>
              </a:rPr>
              <a:t> </a:t>
            </a:r>
            <a:r>
              <a:rPr sz="1650" b="1" dirty="0" err="1">
                <a:solidFill>
                  <a:srgbClr val="E85D04"/>
                </a:solidFill>
                <a:latin typeface="+mj-lt"/>
                <a:ea typeface="Arial"/>
                <a:cs typeface="Arial"/>
              </a:rPr>
              <a:t>completo</a:t>
            </a:r>
            <a:endParaRPr sz="1650" b="1" dirty="0">
              <a:solidFill>
                <a:srgbClr val="E85D04"/>
              </a:solidFill>
              <a:latin typeface="+mj-lt"/>
              <a:ea typeface="Arial"/>
              <a:cs typeface="Arial"/>
            </a:endParaRPr>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EE446D45-B327-7F2E-6539-F02C16AB32A6}"/>
                  </a:ext>
                </a:extLst>
              </p:cNvPr>
              <p:cNvSpPr txBox="1"/>
              <p:nvPr/>
            </p:nvSpPr>
            <p:spPr>
              <a:xfrm>
                <a:off x="6394049" y="3541765"/>
                <a:ext cx="4532452" cy="455446"/>
              </a:xfrm>
              <a:prstGeom prst="rect">
                <a:avLst/>
              </a:prstGeom>
              <a:noFill/>
            </p:spPr>
            <p:txBody>
              <a:bodyPr wrap="square">
                <a:spAutoFit/>
              </a:bodyPr>
              <a:lstStyle/>
              <a:p>
                <a14:m>
                  <m:oMath xmlns:m="http://schemas.openxmlformats.org/officeDocument/2006/math">
                    <m:sSub>
                      <m:sSubPr>
                        <m:ctrlPr>
                          <a:rPr lang="it-IT" sz="2200" b="1" i="1" smtClean="0">
                            <a:latin typeface="Cambria Math" panose="02040503050406030204" pitchFamily="18" charset="0"/>
                          </a:rPr>
                        </m:ctrlPr>
                      </m:sSubPr>
                      <m:e>
                        <m:r>
                          <a:rPr lang="it-IT" sz="2200" b="1" i="1" smtClean="0">
                            <a:latin typeface="Cambria Math" panose="02040503050406030204" pitchFamily="18" charset="0"/>
                          </a:rPr>
                          <m:t>𝑷𝑷𝑰</m:t>
                        </m:r>
                      </m:e>
                      <m:sub>
                        <m:r>
                          <a:rPr lang="it-IT" sz="2200" b="1" i="1" smtClean="0">
                            <a:latin typeface="Cambria Math" panose="02040503050406030204" pitchFamily="18" charset="0"/>
                          </a:rPr>
                          <m:t>𝒏</m:t>
                        </m:r>
                      </m:sub>
                    </m:sSub>
                    <m:r>
                      <a:rPr lang="it-IT" sz="2200" b="1" i="1" smtClean="0">
                        <a:latin typeface="Cambria Math" panose="02040503050406030204" pitchFamily="18" charset="0"/>
                      </a:rPr>
                      <m:t>=</m:t>
                    </m:r>
                    <m:sSubSup>
                      <m:sSubSupPr>
                        <m:ctrlPr>
                          <a:rPr lang="it-IT" sz="2200" b="1" i="1" smtClean="0">
                            <a:latin typeface="Cambria Math" panose="02040503050406030204" pitchFamily="18" charset="0"/>
                          </a:rPr>
                        </m:ctrlPr>
                      </m:sSubSupPr>
                      <m:e>
                        <m:r>
                          <a:rPr lang="it-IT" sz="2200" b="1" i="1" smtClean="0">
                            <a:latin typeface="Cambria Math" panose="02040503050406030204" pitchFamily="18" charset="0"/>
                          </a:rPr>
                          <m:t>𝑷𝑷𝑰</m:t>
                        </m:r>
                      </m:e>
                      <m:sub>
                        <m:r>
                          <a:rPr lang="it-IT" sz="2200" b="1" i="1" smtClean="0">
                            <a:latin typeface="Cambria Math" panose="02040503050406030204" pitchFamily="18" charset="0"/>
                          </a:rPr>
                          <m:t>𝒏</m:t>
                        </m:r>
                      </m:sub>
                      <m:sup>
                        <m:r>
                          <a:rPr lang="it-IT" sz="2200" b="1" i="1" smtClean="0">
                            <a:latin typeface="Cambria Math" panose="02040503050406030204" pitchFamily="18" charset="0"/>
                          </a:rPr>
                          <m:t>𝒑</m:t>
                        </m:r>
                      </m:sup>
                    </m:sSubSup>
                    <m:r>
                      <a:rPr lang="it-IT" sz="2200" b="1" i="1" smtClean="0">
                        <a:latin typeface="Cambria Math" panose="02040503050406030204" pitchFamily="18" charset="0"/>
                        <a:ea typeface="Cambria Math" panose="02040503050406030204" pitchFamily="18" charset="0"/>
                      </a:rPr>
                      <m:t>∙</m:t>
                    </m:r>
                    <m:acc>
                      <m:accPr>
                        <m:chr m:val="̃"/>
                        <m:ctrlPr>
                          <a:rPr lang="it-IT" sz="2200" b="1" i="1">
                            <a:latin typeface="Cambria Math" panose="02040503050406030204" pitchFamily="18" charset="0"/>
                            <a:ea typeface="Cambria Math" panose="02040503050406030204" pitchFamily="18" charset="0"/>
                          </a:rPr>
                        </m:ctrlPr>
                      </m:accPr>
                      <m:e>
                        <m:r>
                          <a:rPr lang="it-IT" sz="2200" b="1" i="1">
                            <a:latin typeface="Cambria Math" panose="02040503050406030204" pitchFamily="18" charset="0"/>
                            <a:ea typeface="Cambria Math" panose="02040503050406030204" pitchFamily="18" charset="0"/>
                          </a:rPr>
                          <m:t>𝑨</m:t>
                        </m:r>
                      </m:e>
                    </m:acc>
                    <m:sSubSup>
                      <m:sSubSupPr>
                        <m:ctrlPr>
                          <a:rPr lang="it-IT" sz="2200" b="1" i="1" smtClean="0">
                            <a:latin typeface="Cambria Math" panose="02040503050406030204" pitchFamily="18" charset="0"/>
                          </a:rPr>
                        </m:ctrlPr>
                      </m:sSubSupPr>
                      <m:e>
                        <m:r>
                          <a:rPr lang="it-IT" sz="2200" b="1" i="1" smtClean="0">
                            <a:latin typeface="Cambria Math" panose="02040503050406030204" pitchFamily="18" charset="0"/>
                          </a:rPr>
                          <m:t>+ </m:t>
                        </m:r>
                        <m:r>
                          <a:rPr lang="it-IT" sz="2200" b="1" i="1" smtClean="0">
                            <a:latin typeface="Cambria Math" panose="02040503050406030204" pitchFamily="18" charset="0"/>
                          </a:rPr>
                          <m:t>𝑹𝑹𝑰</m:t>
                        </m:r>
                      </m:e>
                      <m:sub>
                        <m:r>
                          <a:rPr lang="it-IT" sz="2200" b="1" i="1">
                            <a:latin typeface="Cambria Math" panose="02040503050406030204" pitchFamily="18" charset="0"/>
                          </a:rPr>
                          <m:t>𝒏</m:t>
                        </m:r>
                      </m:sub>
                      <m:sup>
                        <m:r>
                          <a:rPr lang="it-IT" sz="2200" b="1" i="1">
                            <a:latin typeface="Cambria Math" panose="02040503050406030204" pitchFamily="18" charset="0"/>
                          </a:rPr>
                          <m:t>𝒑</m:t>
                        </m:r>
                      </m:sup>
                    </m:sSubSup>
                    <m:r>
                      <a:rPr lang="it-IT" sz="2200" b="1" i="1">
                        <a:latin typeface="Cambria Math" panose="02040503050406030204" pitchFamily="18" charset="0"/>
                        <a:ea typeface="Cambria Math" panose="02040503050406030204" pitchFamily="18" charset="0"/>
                      </a:rPr>
                      <m:t>∙</m:t>
                    </m:r>
                    <m:r>
                      <a:rPr lang="it-IT" sz="2200" b="1" i="1" smtClean="0">
                        <a:latin typeface="Cambria Math" panose="02040503050406030204" pitchFamily="18" charset="0"/>
                        <a:ea typeface="Cambria Math" panose="02040503050406030204" pitchFamily="18" charset="0"/>
                      </a:rPr>
                      <m:t>𝑩</m:t>
                    </m:r>
                    <m:r>
                      <a:rPr lang="it-IT" sz="2200" b="1" i="1" smtClean="0">
                        <a:latin typeface="Cambria Math" panose="02040503050406030204" pitchFamily="18" charset="0"/>
                        <a:ea typeface="Cambria Math" panose="02040503050406030204" pitchFamily="18" charset="0"/>
                      </a:rPr>
                      <m:t>+</m:t>
                    </m:r>
                    <m:sSub>
                      <m:sSubPr>
                        <m:ctrlPr>
                          <a:rPr lang="it-IT" sz="2200" b="1" i="1" smtClean="0">
                            <a:latin typeface="Cambria Math" panose="02040503050406030204" pitchFamily="18" charset="0"/>
                            <a:ea typeface="Cambria Math" panose="02040503050406030204" pitchFamily="18" charset="0"/>
                          </a:rPr>
                        </m:ctrlPr>
                      </m:sSubPr>
                      <m:e>
                        <m:r>
                          <a:rPr lang="it-IT" sz="2200" b="1" i="1" smtClean="0">
                            <a:latin typeface="Cambria Math" panose="02040503050406030204" pitchFamily="18" charset="0"/>
                            <a:ea typeface="Cambria Math" panose="02040503050406030204" pitchFamily="18" charset="0"/>
                          </a:rPr>
                          <m:t>𝑾</m:t>
                        </m:r>
                      </m:e>
                      <m:sub>
                        <m:r>
                          <a:rPr lang="it-IT" sz="2200" b="1" i="1" smtClean="0">
                            <a:latin typeface="Cambria Math" panose="02040503050406030204" pitchFamily="18" charset="0"/>
                            <a:ea typeface="Cambria Math" panose="02040503050406030204" pitchFamily="18" charset="0"/>
                          </a:rPr>
                          <m:t>𝒏</m:t>
                        </m:r>
                      </m:sub>
                    </m:sSub>
                  </m:oMath>
                </a14:m>
                <a:r>
                  <a:rPr lang="it-IT" sz="2200" b="1" dirty="0"/>
                  <a:t> </a:t>
                </a:r>
                <a:endParaRPr lang="it-IT" dirty="0"/>
              </a:p>
            </p:txBody>
          </p:sp>
        </mc:Choice>
        <mc:Fallback xmlns="">
          <p:sp>
            <p:nvSpPr>
              <p:cNvPr id="15" name="CasellaDiTesto 14">
                <a:extLst>
                  <a:ext uri="{FF2B5EF4-FFF2-40B4-BE49-F238E27FC236}">
                    <a16:creationId xmlns:a16="http://schemas.microsoft.com/office/drawing/2014/main" id="{EE446D45-B327-7F2E-6539-F02C16AB32A6}"/>
                  </a:ext>
                </a:extLst>
              </p:cNvPr>
              <p:cNvSpPr txBox="1">
                <a:spLocks noRot="1" noChangeAspect="1" noMove="1" noResize="1" noEditPoints="1" noAdjustHandles="1" noChangeArrowheads="1" noChangeShapeType="1" noTextEdit="1"/>
              </p:cNvSpPr>
              <p:nvPr/>
            </p:nvSpPr>
            <p:spPr>
              <a:xfrm>
                <a:off x="6394049" y="3541765"/>
                <a:ext cx="4532452" cy="455446"/>
              </a:xfrm>
              <a:prstGeom prst="rect">
                <a:avLst/>
              </a:prstGeom>
              <a:blipFill>
                <a:blip r:embed="rId6"/>
                <a:stretch>
                  <a:fillRect l="-135" t="-4000"/>
                </a:stretch>
              </a:blipFill>
            </p:spPr>
            <p:txBody>
              <a:bodyPr/>
              <a:lstStyle/>
              <a:p>
                <a:r>
                  <a:rPr lang="it-IT">
                    <a:noFill/>
                  </a:rPr>
                  <a:t> </a:t>
                </a:r>
              </a:p>
            </p:txBody>
          </p:sp>
        </mc:Fallback>
      </mc:AlternateContent>
      <p:pic>
        <p:nvPicPr>
          <p:cNvPr id="17" name="Immagine 16">
            <a:extLst>
              <a:ext uri="{FF2B5EF4-FFF2-40B4-BE49-F238E27FC236}">
                <a16:creationId xmlns:a16="http://schemas.microsoft.com/office/drawing/2014/main" id="{EFD04283-967A-58E7-405B-7D09DEB59870}"/>
              </a:ext>
            </a:extLst>
          </p:cNvPr>
          <p:cNvPicPr>
            <a:picLocks noChangeAspect="1"/>
          </p:cNvPicPr>
          <p:nvPr/>
        </p:nvPicPr>
        <p:blipFill>
          <a:blip r:embed="rId7"/>
          <a:stretch>
            <a:fillRect/>
          </a:stretch>
        </p:blipFill>
        <p:spPr>
          <a:xfrm>
            <a:off x="3226906" y="4181710"/>
            <a:ext cx="4940964" cy="1235241"/>
          </a:xfrm>
          <a:prstGeom prst="rect">
            <a:avLst/>
          </a:prstGeom>
        </p:spPr>
      </p:pic>
      <mc:AlternateContent xmlns:mc="http://schemas.openxmlformats.org/markup-compatibility/2006" xmlns:a14="http://schemas.microsoft.com/office/drawing/2010/main">
        <mc:Choice Requires="a14">
          <p:sp>
            <p:nvSpPr>
              <p:cNvPr id="20" name="CasellaDiTesto 19">
                <a:extLst>
                  <a:ext uri="{FF2B5EF4-FFF2-40B4-BE49-F238E27FC236}">
                    <a16:creationId xmlns:a16="http://schemas.microsoft.com/office/drawing/2014/main" id="{D80A9791-6C05-8D96-0736-81B4A0A1FE09}"/>
                  </a:ext>
                </a:extLst>
              </p:cNvPr>
              <p:cNvSpPr txBox="1"/>
              <p:nvPr/>
            </p:nvSpPr>
            <p:spPr>
              <a:xfrm>
                <a:off x="3338331" y="5254819"/>
                <a:ext cx="3087546" cy="837152"/>
              </a:xfrm>
              <a:prstGeom prst="rect">
                <a:avLst/>
              </a:prstGeom>
              <a:noFill/>
            </p:spPr>
            <p:txBody>
              <a:bodyPr wrap="square">
                <a:spAutoFit/>
              </a:bodyPr>
              <a:lstStyle/>
              <a:p>
                <a:pPr/>
                <a14:m>
                  <m:oMathPara xmlns:m="http://schemas.openxmlformats.org/officeDocument/2006/math">
                    <m:oMath>
                      <m:sSub>
                        <m:sSubPr>
                          <m:ctrlPr>
                            <a:rPr lang="it-IT" sz="2200" b="1" i="1">
                              <a:latin typeface="Cambria Math" panose="02040503050406030204" pitchFamily="18" charset="0"/>
                            </a:rPr>
                          </m:ctrlPr>
                        </m:sSubPr>
                        <m:e>
                          <m:r>
                            <a:rPr lang="it-IT" sz="2200" b="1" i="1">
                              <a:latin typeface="Cambria Math" panose="02040503050406030204" pitchFamily="18" charset="0"/>
                            </a:rPr>
                            <m:t>𝑭</m:t>
                          </m:r>
                        </m:e>
                        <m:sub>
                          <m:r>
                            <a:rPr lang="it-IT" sz="2200" b="1" i="1">
                              <a:latin typeface="Cambria Math" panose="02040503050406030204" pitchFamily="18" charset="0"/>
                            </a:rPr>
                            <m:t>𝑹𝑹𝑰</m:t>
                          </m:r>
                          <m:r>
                            <a:rPr lang="it-IT" sz="2200" b="1" i="1">
                              <a:latin typeface="Cambria Math" panose="02040503050406030204" pitchFamily="18" charset="0"/>
                            </a:rPr>
                            <m:t>→</m:t>
                          </m:r>
                          <m:r>
                            <a:rPr lang="it-IT" sz="2200" b="1" i="1">
                              <a:latin typeface="Cambria Math" panose="02040503050406030204" pitchFamily="18" charset="0"/>
                            </a:rPr>
                            <m:t>𝑷𝑷𝑰</m:t>
                          </m:r>
                        </m:sub>
                      </m:sSub>
                      <m:r>
                        <a:rPr lang="it-IT" sz="2200" b="1" i="1">
                          <a:latin typeface="Cambria Math" panose="02040503050406030204" pitchFamily="18" charset="0"/>
                        </a:rPr>
                        <m:t>=</m:t>
                      </m:r>
                      <m:r>
                        <a:rPr lang="it-IT" sz="2200" b="1" i="1">
                          <a:latin typeface="Cambria Math" panose="02040503050406030204" pitchFamily="18" charset="0"/>
                        </a:rPr>
                        <m:t>𝒍𝒏</m:t>
                      </m:r>
                      <m:r>
                        <a:rPr lang="it-IT" sz="2200" b="1" i="1">
                          <a:latin typeface="Cambria Math" panose="02040503050406030204" pitchFamily="18" charset="0"/>
                        </a:rPr>
                        <m:t>(</m:t>
                      </m:r>
                      <m:f>
                        <m:fPr>
                          <m:ctrlPr>
                            <a:rPr lang="it-IT" sz="2200" b="1" i="1">
                              <a:latin typeface="Cambria Math" panose="02040503050406030204" pitchFamily="18" charset="0"/>
                              <a:ea typeface="Cambria Math" panose="02040503050406030204" pitchFamily="18" charset="0"/>
                            </a:rPr>
                          </m:ctrlPr>
                        </m:fPr>
                        <m:num>
                          <m:sSubSup>
                            <m:sSubSupPr>
                              <m:ctrlPr>
                                <a:rPr lang="it-IT" sz="2200" b="1" i="1">
                                  <a:latin typeface="Cambria Math" panose="02040503050406030204" pitchFamily="18" charset="0"/>
                                  <a:ea typeface="Cambria Math" panose="02040503050406030204" pitchFamily="18" charset="0"/>
                                </a:rPr>
                              </m:ctrlPr>
                            </m:sSubSupPr>
                            <m:e>
                              <m:r>
                                <a:rPr lang="it-IT" sz="2200" b="1" i="1">
                                  <a:latin typeface="Cambria Math" panose="02040503050406030204" pitchFamily="18" charset="0"/>
                                  <a:ea typeface="Cambria Math" panose="02040503050406030204" pitchFamily="18" charset="0"/>
                                </a:rPr>
                                <m:t>𝝈</m:t>
                              </m:r>
                            </m:e>
                            <m:sub>
                              <m:r>
                                <a:rPr lang="it-IT" sz="2200" b="1" i="1">
                                  <a:latin typeface="Cambria Math" panose="02040503050406030204" pitchFamily="18" charset="0"/>
                                  <a:ea typeface="Cambria Math" panose="02040503050406030204" pitchFamily="18" charset="0"/>
                                </a:rPr>
                                <m:t>𝒖</m:t>
                              </m:r>
                            </m:sub>
                            <m:sup>
                              <m:r>
                                <a:rPr lang="it-IT" sz="2200" b="1" i="1">
                                  <a:latin typeface="Cambria Math" panose="02040503050406030204" pitchFamily="18" charset="0"/>
                                  <a:ea typeface="Cambria Math" panose="02040503050406030204" pitchFamily="18" charset="0"/>
                                </a:rPr>
                                <m:t>𝟐</m:t>
                              </m:r>
                            </m:sup>
                          </m:sSubSup>
                        </m:num>
                        <m:den>
                          <m:sSubSup>
                            <m:sSubSupPr>
                              <m:ctrlPr>
                                <a:rPr lang="it-IT" sz="2200" b="1" i="1">
                                  <a:latin typeface="Cambria Math" panose="02040503050406030204" pitchFamily="18" charset="0"/>
                                  <a:ea typeface="Cambria Math" panose="02040503050406030204" pitchFamily="18" charset="0"/>
                                </a:rPr>
                              </m:ctrlPr>
                            </m:sSubSupPr>
                            <m:e>
                              <m:r>
                                <a:rPr lang="it-IT" sz="2200" b="1" i="1">
                                  <a:latin typeface="Cambria Math" panose="02040503050406030204" pitchFamily="18" charset="0"/>
                                  <a:ea typeface="Cambria Math" panose="02040503050406030204" pitchFamily="18" charset="0"/>
                                </a:rPr>
                                <m:t>𝝈</m:t>
                              </m:r>
                            </m:e>
                            <m:sub>
                              <m:r>
                                <a:rPr lang="it-IT" sz="2200" b="1" i="1">
                                  <a:latin typeface="Cambria Math" panose="02040503050406030204" pitchFamily="18" charset="0"/>
                                  <a:ea typeface="Cambria Math" panose="02040503050406030204" pitchFamily="18" charset="0"/>
                                </a:rPr>
                                <m:t>𝒘</m:t>
                              </m:r>
                            </m:sub>
                            <m:sup>
                              <m:r>
                                <a:rPr lang="it-IT" sz="2200" b="1" i="1">
                                  <a:latin typeface="Cambria Math" panose="02040503050406030204" pitchFamily="18" charset="0"/>
                                  <a:ea typeface="Cambria Math" panose="02040503050406030204" pitchFamily="18" charset="0"/>
                                </a:rPr>
                                <m:t>𝟐</m:t>
                              </m:r>
                            </m:sup>
                          </m:sSubSup>
                        </m:den>
                      </m:f>
                      <m:r>
                        <a:rPr lang="it-IT" sz="2200" b="1" i="1">
                          <a:latin typeface="Cambria Math" panose="02040503050406030204" pitchFamily="18" charset="0"/>
                        </a:rPr>
                        <m:t>)</m:t>
                      </m:r>
                    </m:oMath>
                  </m:oMathPara>
                </a14:m>
                <a:endParaRPr lang="it-IT" dirty="0"/>
              </a:p>
            </p:txBody>
          </p:sp>
        </mc:Choice>
        <mc:Fallback xmlns="">
          <p:sp>
            <p:nvSpPr>
              <p:cNvPr id="20" name="CasellaDiTesto 19">
                <a:extLst>
                  <a:ext uri="{FF2B5EF4-FFF2-40B4-BE49-F238E27FC236}">
                    <a16:creationId xmlns:a16="http://schemas.microsoft.com/office/drawing/2014/main" id="{D80A9791-6C05-8D96-0736-81B4A0A1FE09}"/>
                  </a:ext>
                </a:extLst>
              </p:cNvPr>
              <p:cNvSpPr txBox="1">
                <a:spLocks noRot="1" noChangeAspect="1" noMove="1" noResize="1" noEditPoints="1" noAdjustHandles="1" noChangeArrowheads="1" noChangeShapeType="1" noTextEdit="1"/>
              </p:cNvSpPr>
              <p:nvPr/>
            </p:nvSpPr>
            <p:spPr>
              <a:xfrm>
                <a:off x="3338331" y="5254819"/>
                <a:ext cx="3087546" cy="837152"/>
              </a:xfrm>
              <a:prstGeom prst="rect">
                <a:avLst/>
              </a:prstGeom>
              <a:blipFill>
                <a:blip r:embed="rId8"/>
                <a:stretch>
                  <a:fillRect/>
                </a:stretch>
              </a:blipFill>
            </p:spPr>
            <p:txBody>
              <a:bodyPr/>
              <a:lstStyle/>
              <a:p>
                <a:r>
                  <a:rPr lang="it-IT">
                    <a:noFill/>
                  </a:rPr>
                  <a:t> </a:t>
                </a:r>
              </a:p>
            </p:txBody>
          </p:sp>
        </mc:Fallback>
      </mc:AlternateContent>
      <p:sp>
        <p:nvSpPr>
          <p:cNvPr id="22" name="Rettangolo 21">
            <a:extLst>
              <a:ext uri="{FF2B5EF4-FFF2-40B4-BE49-F238E27FC236}">
                <a16:creationId xmlns:a16="http://schemas.microsoft.com/office/drawing/2014/main" id="{FC38A983-6D1E-8799-EAE5-A1C5647E0123}"/>
              </a:ext>
            </a:extLst>
          </p:cNvPr>
          <p:cNvSpPr>
            <a:spLocks noGrp="1"/>
          </p:cNvSpPr>
          <p:nvPr/>
        </p:nvSpPr>
        <p:spPr>
          <a:xfrm>
            <a:off x="6192455" y="5426237"/>
            <a:ext cx="3978797" cy="666750"/>
          </a:xfrm>
          <a:prstGeom prst="rect">
            <a:avLst/>
          </a:prstGeom>
          <a:noFill/>
          <a:ln w="0">
            <a:noFill/>
          </a:ln>
        </p:spPr>
        <p:txBody>
          <a:bodyPr anchor="ctr">
            <a:normAutofit fontScale="92500" lnSpcReduction="20000"/>
          </a:bodyPr>
          <a:lstStyle/>
          <a:p>
            <a:pPr algn="ctr">
              <a:defRPr sz="1650" b="0">
                <a:solidFill>
                  <a:srgbClr val="242424"/>
                </a:solidFill>
                <a:latin typeface="Arial"/>
                <a:ea typeface="Arial"/>
                <a:cs typeface="Arial"/>
              </a:defRPr>
            </a:pPr>
            <a:r>
              <a:rPr sz="1650" b="0" dirty="0">
                <a:solidFill>
                  <a:srgbClr val="242424"/>
                </a:solidFill>
                <a:latin typeface="+mj-lt"/>
                <a:ea typeface="Arial"/>
                <a:cs typeface="Arial"/>
              </a:rPr>
              <a:t>Un </a:t>
            </a:r>
            <a:r>
              <a:rPr sz="1650" b="0" dirty="0" err="1">
                <a:solidFill>
                  <a:srgbClr val="242424"/>
                </a:solidFill>
                <a:latin typeface="+mj-lt"/>
                <a:ea typeface="Arial"/>
                <a:cs typeface="Arial"/>
              </a:rPr>
              <a:t>valore</a:t>
            </a:r>
            <a:r>
              <a:rPr sz="1650" b="0" dirty="0">
                <a:solidFill>
                  <a:srgbClr val="242424"/>
                </a:solidFill>
                <a:latin typeface="+mj-lt"/>
                <a:ea typeface="Arial"/>
                <a:cs typeface="Arial"/>
              </a:rPr>
              <a:t> </a:t>
            </a:r>
            <a:r>
              <a:rPr sz="1650" b="0" dirty="0" err="1">
                <a:solidFill>
                  <a:srgbClr val="242424"/>
                </a:solidFill>
                <a:latin typeface="+mj-lt"/>
                <a:ea typeface="Arial"/>
                <a:cs typeface="Arial"/>
              </a:rPr>
              <a:t>positivo</a:t>
            </a:r>
            <a:r>
              <a:rPr sz="1650" b="0" dirty="0">
                <a:solidFill>
                  <a:srgbClr val="242424"/>
                </a:solidFill>
                <a:latin typeface="+mj-lt"/>
                <a:ea typeface="Arial"/>
                <a:cs typeface="Arial"/>
              </a:rPr>
              <a:t> indica </a:t>
            </a:r>
            <a:r>
              <a:rPr sz="1650" b="0" dirty="0" err="1">
                <a:solidFill>
                  <a:srgbClr val="242424"/>
                </a:solidFill>
                <a:latin typeface="+mj-lt"/>
                <a:ea typeface="Arial"/>
                <a:cs typeface="Arial"/>
              </a:rPr>
              <a:t>che</a:t>
            </a:r>
            <a:r>
              <a:rPr sz="1650" b="0" dirty="0">
                <a:solidFill>
                  <a:srgbClr val="242424"/>
                </a:solidFill>
                <a:latin typeface="+mj-lt"/>
                <a:ea typeface="Arial"/>
                <a:cs typeface="Arial"/>
              </a:rPr>
              <a:t> </a:t>
            </a:r>
            <a:r>
              <a:rPr sz="1650" b="0" dirty="0" err="1">
                <a:solidFill>
                  <a:srgbClr val="242424"/>
                </a:solidFill>
                <a:latin typeface="+mj-lt"/>
                <a:ea typeface="Arial"/>
                <a:cs typeface="Arial"/>
              </a:rPr>
              <a:t>l’aggiunta</a:t>
            </a:r>
            <a:r>
              <a:rPr sz="1650" b="0" dirty="0">
                <a:solidFill>
                  <a:srgbClr val="242424"/>
                </a:solidFill>
                <a:latin typeface="+mj-lt"/>
                <a:ea typeface="Arial"/>
                <a:cs typeface="Arial"/>
              </a:rPr>
              <a:t> del </a:t>
            </a:r>
            <a:r>
              <a:rPr sz="1650" b="0" dirty="0" err="1">
                <a:solidFill>
                  <a:srgbClr val="242424"/>
                </a:solidFill>
                <a:latin typeface="+mj-lt"/>
                <a:ea typeface="Arial"/>
                <a:cs typeface="Arial"/>
              </a:rPr>
              <a:t>passato</a:t>
            </a:r>
            <a:r>
              <a:rPr sz="1650" b="0" dirty="0">
                <a:solidFill>
                  <a:srgbClr val="242424"/>
                </a:solidFill>
                <a:latin typeface="+mj-lt"/>
                <a:ea typeface="Arial"/>
                <a:cs typeface="Arial"/>
              </a:rPr>
              <a:t> di RRI </a:t>
            </a:r>
            <a:r>
              <a:rPr sz="1650" b="0" dirty="0" err="1">
                <a:solidFill>
                  <a:srgbClr val="242424"/>
                </a:solidFill>
                <a:latin typeface="+mj-lt"/>
                <a:ea typeface="Arial"/>
                <a:cs typeface="Arial"/>
              </a:rPr>
              <a:t>riduce</a:t>
            </a:r>
            <a:r>
              <a:rPr sz="1650" b="0" dirty="0">
                <a:solidFill>
                  <a:srgbClr val="242424"/>
                </a:solidFill>
                <a:latin typeface="+mj-lt"/>
                <a:ea typeface="Arial"/>
                <a:cs typeface="Arial"/>
              </a:rPr>
              <a:t> </a:t>
            </a:r>
            <a:r>
              <a:rPr sz="1650" b="0" dirty="0" err="1">
                <a:solidFill>
                  <a:srgbClr val="242424"/>
                </a:solidFill>
                <a:latin typeface="+mj-lt"/>
                <a:ea typeface="Arial"/>
                <a:cs typeface="Arial"/>
              </a:rPr>
              <a:t>l’errore</a:t>
            </a:r>
            <a:r>
              <a:rPr sz="1650" b="0" dirty="0">
                <a:solidFill>
                  <a:srgbClr val="242424"/>
                </a:solidFill>
                <a:latin typeface="+mj-lt"/>
                <a:ea typeface="Arial"/>
                <a:cs typeface="Arial"/>
              </a:rPr>
              <a:t> di </a:t>
            </a:r>
            <a:r>
              <a:rPr sz="1650" b="0" dirty="0" err="1">
                <a:solidFill>
                  <a:srgbClr val="242424"/>
                </a:solidFill>
                <a:latin typeface="+mj-lt"/>
                <a:ea typeface="Arial"/>
                <a:cs typeface="Arial"/>
              </a:rPr>
              <a:t>previsione</a:t>
            </a:r>
            <a:r>
              <a:rPr sz="1650" b="0" dirty="0">
                <a:solidFill>
                  <a:srgbClr val="242424"/>
                </a:solidFill>
                <a:latin typeface="+mj-lt"/>
                <a:ea typeface="Arial"/>
                <a:cs typeface="Arial"/>
              </a:rPr>
              <a:t> del PPI.</a:t>
            </a:r>
          </a:p>
        </p:txBody>
      </p:sp>
      <p:sp>
        <p:nvSpPr>
          <p:cNvPr id="24" name="Rettangolo 23">
            <a:extLst>
              <a:ext uri="{FF2B5EF4-FFF2-40B4-BE49-F238E27FC236}">
                <a16:creationId xmlns:a16="http://schemas.microsoft.com/office/drawing/2014/main" id="{E9D95C84-B833-FB87-3FFB-13B689E66271}"/>
              </a:ext>
            </a:extLst>
          </p:cNvPr>
          <p:cNvSpPr>
            <a:spLocks noGrp="1"/>
          </p:cNvSpPr>
          <p:nvPr/>
        </p:nvSpPr>
        <p:spPr>
          <a:xfrm>
            <a:off x="2975899" y="6242492"/>
            <a:ext cx="6286500" cy="361950"/>
          </a:xfrm>
          <a:prstGeom prst="rect">
            <a:avLst/>
          </a:prstGeom>
          <a:noFill/>
          <a:ln w="0">
            <a:noFill/>
          </a:ln>
        </p:spPr>
        <p:txBody>
          <a:bodyPr anchor="ctr">
            <a:normAutofit/>
          </a:bodyPr>
          <a:lstStyle/>
          <a:p>
            <a:pPr algn="ctr">
              <a:defRPr sz="1500" b="1">
                <a:solidFill>
                  <a:srgbClr val="E85D04"/>
                </a:solidFill>
                <a:latin typeface="Arial"/>
                <a:ea typeface="Arial"/>
                <a:cs typeface="Arial"/>
              </a:defRPr>
            </a:pPr>
            <a:r>
              <a:rPr sz="1500" b="1" dirty="0">
                <a:solidFill>
                  <a:srgbClr val="E85D04"/>
                </a:solidFill>
                <a:latin typeface="+mj-lt"/>
                <a:ea typeface="Arial"/>
                <a:cs typeface="Arial"/>
              </a:rPr>
              <a:t>La </a:t>
            </a:r>
            <a:r>
              <a:rPr sz="1500" b="1" dirty="0" err="1">
                <a:solidFill>
                  <a:srgbClr val="E85D04"/>
                </a:solidFill>
                <a:latin typeface="+mj-lt"/>
                <a:ea typeface="Arial"/>
                <a:cs typeface="Arial"/>
              </a:rPr>
              <a:t>stessa</a:t>
            </a:r>
            <a:r>
              <a:rPr sz="1500" b="1" dirty="0">
                <a:solidFill>
                  <a:srgbClr val="E85D04"/>
                </a:solidFill>
                <a:latin typeface="+mj-lt"/>
                <a:ea typeface="Arial"/>
                <a:cs typeface="Arial"/>
              </a:rPr>
              <a:t> </a:t>
            </a:r>
            <a:r>
              <a:rPr sz="1500" b="1" dirty="0" err="1">
                <a:solidFill>
                  <a:srgbClr val="E85D04"/>
                </a:solidFill>
                <a:latin typeface="+mj-lt"/>
                <a:ea typeface="Arial"/>
                <a:cs typeface="Arial"/>
              </a:rPr>
              <a:t>procedura</a:t>
            </a:r>
            <a:r>
              <a:rPr sz="1500" b="1" dirty="0">
                <a:solidFill>
                  <a:srgbClr val="E85D04"/>
                </a:solidFill>
                <a:latin typeface="+mj-lt"/>
                <a:ea typeface="Arial"/>
                <a:cs typeface="Arial"/>
              </a:rPr>
              <a:t> </a:t>
            </a:r>
            <a:r>
              <a:rPr sz="1500" b="1" dirty="0" err="1">
                <a:solidFill>
                  <a:srgbClr val="E85D04"/>
                </a:solidFill>
                <a:latin typeface="+mj-lt"/>
                <a:ea typeface="Arial"/>
                <a:cs typeface="Arial"/>
              </a:rPr>
              <a:t>viene</a:t>
            </a:r>
            <a:r>
              <a:rPr sz="1500" b="1" dirty="0">
                <a:solidFill>
                  <a:srgbClr val="E85D04"/>
                </a:solidFill>
                <a:latin typeface="+mj-lt"/>
                <a:ea typeface="Arial"/>
                <a:cs typeface="Arial"/>
              </a:rPr>
              <a:t> </a:t>
            </a:r>
            <a:r>
              <a:rPr sz="1500" b="1" dirty="0" err="1">
                <a:solidFill>
                  <a:srgbClr val="E85D04"/>
                </a:solidFill>
                <a:latin typeface="+mj-lt"/>
                <a:ea typeface="Arial"/>
                <a:cs typeface="Arial"/>
              </a:rPr>
              <a:t>ripetuta</a:t>
            </a:r>
            <a:r>
              <a:rPr sz="1500" b="1" dirty="0">
                <a:solidFill>
                  <a:srgbClr val="E85D04"/>
                </a:solidFill>
                <a:latin typeface="+mj-lt"/>
                <a:ea typeface="Arial"/>
                <a:cs typeface="Arial"/>
              </a:rPr>
              <a:t> </a:t>
            </a:r>
            <a:r>
              <a:rPr sz="1500" b="1" dirty="0" err="1">
                <a:solidFill>
                  <a:srgbClr val="E85D04"/>
                </a:solidFill>
                <a:latin typeface="+mj-lt"/>
                <a:ea typeface="Arial"/>
                <a:cs typeface="Arial"/>
              </a:rPr>
              <a:t>nella</a:t>
            </a:r>
            <a:r>
              <a:rPr sz="1500" b="1" dirty="0">
                <a:solidFill>
                  <a:srgbClr val="E85D04"/>
                </a:solidFill>
                <a:latin typeface="+mj-lt"/>
                <a:ea typeface="Arial"/>
                <a:cs typeface="Arial"/>
              </a:rPr>
              <a:t> </a:t>
            </a:r>
            <a:r>
              <a:rPr sz="1500" b="1" dirty="0" err="1">
                <a:solidFill>
                  <a:srgbClr val="E85D04"/>
                </a:solidFill>
                <a:latin typeface="+mj-lt"/>
                <a:ea typeface="Arial"/>
                <a:cs typeface="Arial"/>
              </a:rPr>
              <a:t>direzione</a:t>
            </a:r>
            <a:r>
              <a:rPr sz="1500" b="1" dirty="0">
                <a:solidFill>
                  <a:srgbClr val="E85D04"/>
                </a:solidFill>
                <a:latin typeface="+mj-lt"/>
                <a:ea typeface="Arial"/>
                <a:cs typeface="Arial"/>
              </a:rPr>
              <a:t> PPI→RRI</a:t>
            </a:r>
            <a:r>
              <a:rPr sz="1500" b="1" dirty="0">
                <a:solidFill>
                  <a:srgbClr val="E85D04"/>
                </a:solidFill>
                <a:latin typeface="Arial"/>
                <a:ea typeface="Arial"/>
                <a:cs typeface="Arial"/>
              </a:rPr>
              <a:t>.</a:t>
            </a:r>
          </a:p>
        </p:txBody>
      </p:sp>
    </p:spTree>
    <p:extLst>
      <p:ext uri="{BB962C8B-B14F-4D97-AF65-F5344CB8AC3E}">
        <p14:creationId xmlns:p14="http://schemas.microsoft.com/office/powerpoint/2010/main" val="890443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7DE5A0-57A9-BF45-2D28-9E7DC584773A}"/>
              </a:ext>
            </a:extLst>
          </p:cNvPr>
          <p:cNvSpPr>
            <a:spLocks noGrp="1"/>
          </p:cNvSpPr>
          <p:nvPr>
            <p:ph type="title"/>
          </p:nvPr>
        </p:nvSpPr>
        <p:spPr/>
        <p:txBody>
          <a:bodyPr>
            <a:normAutofit/>
          </a:bodyPr>
          <a:lstStyle/>
          <a:p>
            <a:r>
              <a:rPr lang="it-IT" dirty="0"/>
              <a:t>F-test della causalità di Granger</a:t>
            </a:r>
          </a:p>
        </p:txBody>
      </p:sp>
      <p:pic>
        <p:nvPicPr>
          <p:cNvPr id="5" name="Segnaposto contenuto 4">
            <a:extLst>
              <a:ext uri="{FF2B5EF4-FFF2-40B4-BE49-F238E27FC236}">
                <a16:creationId xmlns:a16="http://schemas.microsoft.com/office/drawing/2014/main" id="{32B1C0C0-8961-5C77-3CBF-A92A1786C5AF}"/>
              </a:ext>
            </a:extLst>
          </p:cNvPr>
          <p:cNvPicPr>
            <a:picLocks noGrp="1" noChangeAspect="1"/>
          </p:cNvPicPr>
          <p:nvPr>
            <p:ph idx="1"/>
          </p:nvPr>
        </p:nvPicPr>
        <p:blipFill>
          <a:blip r:embed="rId3"/>
          <a:stretch>
            <a:fillRect/>
          </a:stretch>
        </p:blipFill>
        <p:spPr>
          <a:xfrm>
            <a:off x="4600802" y="1643267"/>
            <a:ext cx="7198362" cy="1863862"/>
          </a:xfrm>
          <a:prstGeom prst="rect">
            <a:avLst/>
          </a:prstGeom>
        </p:spPr>
      </p:pic>
      <p:pic>
        <p:nvPicPr>
          <p:cNvPr id="7" name="Immagine 6">
            <a:extLst>
              <a:ext uri="{FF2B5EF4-FFF2-40B4-BE49-F238E27FC236}">
                <a16:creationId xmlns:a16="http://schemas.microsoft.com/office/drawing/2014/main" id="{2DCF0B4B-C10A-EE00-9F63-D0CF318C7CEB}"/>
              </a:ext>
            </a:extLst>
          </p:cNvPr>
          <p:cNvPicPr>
            <a:picLocks noChangeAspect="1"/>
          </p:cNvPicPr>
          <p:nvPr/>
        </p:nvPicPr>
        <p:blipFill>
          <a:blip r:embed="rId4"/>
          <a:stretch>
            <a:fillRect/>
          </a:stretch>
        </p:blipFill>
        <p:spPr>
          <a:xfrm>
            <a:off x="4664538" y="3407862"/>
            <a:ext cx="4297216" cy="562253"/>
          </a:xfrm>
          <a:prstGeom prst="rect">
            <a:avLst/>
          </a:prstGeom>
        </p:spPr>
      </p:pic>
      <p:sp>
        <p:nvSpPr>
          <p:cNvPr id="9" name="CasellaDiTesto 8">
            <a:extLst>
              <a:ext uri="{FF2B5EF4-FFF2-40B4-BE49-F238E27FC236}">
                <a16:creationId xmlns:a16="http://schemas.microsoft.com/office/drawing/2014/main" id="{73E21ADA-F5FC-97F5-A3B8-DADCFE1E04F9}"/>
              </a:ext>
            </a:extLst>
          </p:cNvPr>
          <p:cNvSpPr txBox="1"/>
          <p:nvPr/>
        </p:nvSpPr>
        <p:spPr>
          <a:xfrm>
            <a:off x="442732" y="1616387"/>
            <a:ext cx="3851476" cy="1754326"/>
          </a:xfrm>
          <a:prstGeom prst="rect">
            <a:avLst/>
          </a:prstGeom>
          <a:noFill/>
        </p:spPr>
        <p:txBody>
          <a:bodyPr wrap="square">
            <a:spAutoFit/>
          </a:bodyPr>
          <a:lstStyle/>
          <a:p>
            <a:pPr algn="just">
              <a:buNone/>
            </a:pPr>
            <a:r>
              <a:rPr lang="it-IT" dirty="0">
                <a:latin typeface="+mj-lt"/>
              </a:rPr>
              <a:t>Per ogni soggetto e fase, il test confronta gli errori dei modelli completo e ristretto. </a:t>
            </a:r>
          </a:p>
          <a:p>
            <a:pPr algn="just">
              <a:buNone/>
            </a:pPr>
            <a:r>
              <a:rPr lang="it-IT" dirty="0">
                <a:latin typeface="+mj-lt"/>
              </a:rPr>
              <a:t>Calcolo del numero di soggetti nei quali la causalità di Granger risulta statisticamente significativa:</a:t>
            </a:r>
          </a:p>
        </p:txBody>
      </p:sp>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427D57EA-93B8-A6AC-71B5-B18B66B3C526}"/>
                  </a:ext>
                </a:extLst>
              </p:cNvPr>
              <p:cNvSpPr txBox="1"/>
              <p:nvPr/>
            </p:nvSpPr>
            <p:spPr>
              <a:xfrm>
                <a:off x="1319514" y="3518703"/>
                <a:ext cx="1922001" cy="276999"/>
              </a:xfrm>
              <a:prstGeom prst="rect">
                <a:avLst/>
              </a:prstGeom>
              <a:noFill/>
            </p:spPr>
            <p:txBody>
              <a:bodyPr wrap="none" lIns="0" tIns="0" rIns="0" bIns="0" rtlCol="0">
                <a:spAutoFit/>
              </a:bodyPr>
              <a:lstStyle/>
              <a:p>
                <a:pPr/>
                <a14:m>
                  <m:oMathPara xmlns:m="http://schemas.openxmlformats.org/officeDocument/2006/math">
                    <m:oMath>
                      <m:r>
                        <a:rPr lang="it-IT" b="1" i="1" smtClean="0">
                          <a:latin typeface="Cambria Math" panose="02040503050406030204" pitchFamily="18" charset="0"/>
                        </a:rPr>
                        <m:t>𝒑</m:t>
                      </m:r>
                      <m:r>
                        <a:rPr lang="it-IT" b="1" i="1" smtClean="0">
                          <a:latin typeface="Cambria Math" panose="02040503050406030204" pitchFamily="18" charset="0"/>
                        </a:rPr>
                        <m:t>−</m:t>
                      </m:r>
                      <m:r>
                        <a:rPr lang="it-IT" b="1" i="1" smtClean="0">
                          <a:latin typeface="Cambria Math" panose="02040503050406030204" pitchFamily="18" charset="0"/>
                        </a:rPr>
                        <m:t>𝒗𝒂𝒍𝒖𝒆</m:t>
                      </m:r>
                      <m:r>
                        <a:rPr lang="it-IT" b="1" i="1" smtClean="0">
                          <a:latin typeface="Cambria Math" panose="02040503050406030204" pitchFamily="18" charset="0"/>
                        </a:rPr>
                        <m:t>&lt;</m:t>
                      </m:r>
                      <m:r>
                        <a:rPr lang="it-IT" b="1" i="1" smtClean="0">
                          <a:latin typeface="Cambria Math" panose="02040503050406030204" pitchFamily="18" charset="0"/>
                        </a:rPr>
                        <m:t>𝟎</m:t>
                      </m:r>
                      <m:r>
                        <a:rPr lang="it-IT" b="1" i="1" smtClean="0">
                          <a:latin typeface="Cambria Math" panose="02040503050406030204" pitchFamily="18" charset="0"/>
                        </a:rPr>
                        <m:t>,</m:t>
                      </m:r>
                      <m:r>
                        <a:rPr lang="it-IT" b="1" i="1" smtClean="0">
                          <a:latin typeface="Cambria Math" panose="02040503050406030204" pitchFamily="18" charset="0"/>
                        </a:rPr>
                        <m:t>𝟎𝟓</m:t>
                      </m:r>
                    </m:oMath>
                  </m:oMathPara>
                </a14:m>
                <a:endParaRPr lang="it-IT" b="1" dirty="0"/>
              </a:p>
            </p:txBody>
          </p:sp>
        </mc:Choice>
        <mc:Fallback xmlns="">
          <p:sp>
            <p:nvSpPr>
              <p:cNvPr id="10" name="CasellaDiTesto 9">
                <a:extLst>
                  <a:ext uri="{FF2B5EF4-FFF2-40B4-BE49-F238E27FC236}">
                    <a16:creationId xmlns:a16="http://schemas.microsoft.com/office/drawing/2014/main" id="{427D57EA-93B8-A6AC-71B5-B18B66B3C526}"/>
                  </a:ext>
                </a:extLst>
              </p:cNvPr>
              <p:cNvSpPr txBox="1">
                <a:spLocks noRot="1" noChangeAspect="1" noMove="1" noResize="1" noEditPoints="1" noAdjustHandles="1" noChangeArrowheads="1" noChangeShapeType="1" noTextEdit="1"/>
              </p:cNvSpPr>
              <p:nvPr/>
            </p:nvSpPr>
            <p:spPr>
              <a:xfrm>
                <a:off x="1319514" y="3518703"/>
                <a:ext cx="1922001" cy="276999"/>
              </a:xfrm>
              <a:prstGeom prst="rect">
                <a:avLst/>
              </a:prstGeom>
              <a:blipFill>
                <a:blip r:embed="rId5"/>
                <a:stretch>
                  <a:fillRect l="-2532" r="-2532" b="-28261"/>
                </a:stretch>
              </a:blipFill>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BAE1AB23-8311-F581-B13D-BDD490FAA4D8}"/>
              </a:ext>
            </a:extLst>
          </p:cNvPr>
          <p:cNvSpPr txBox="1"/>
          <p:nvPr/>
        </p:nvSpPr>
        <p:spPr>
          <a:xfrm>
            <a:off x="6815560" y="4752729"/>
            <a:ext cx="4654951" cy="1200329"/>
          </a:xfrm>
          <a:prstGeom prst="rect">
            <a:avLst/>
          </a:prstGeom>
          <a:noFill/>
        </p:spPr>
        <p:txBody>
          <a:bodyPr wrap="square">
            <a:spAutoFit/>
          </a:bodyPr>
          <a:lstStyle/>
          <a:p>
            <a:pPr algn="just"/>
            <a:r>
              <a:rPr lang="it-IT" dirty="0">
                <a:latin typeface="+mj-lt"/>
              </a:rPr>
              <a:t>La percentuale di soggetti significativi viene calcolata e rappresentata separatamente per le direzioni RRI→PPI e PPI→RRI in ciascuna condizione sperimentale.</a:t>
            </a:r>
          </a:p>
        </p:txBody>
      </p:sp>
      <p:pic>
        <p:nvPicPr>
          <p:cNvPr id="14" name="Immagine 13">
            <a:extLst>
              <a:ext uri="{FF2B5EF4-FFF2-40B4-BE49-F238E27FC236}">
                <a16:creationId xmlns:a16="http://schemas.microsoft.com/office/drawing/2014/main" id="{09482857-7C07-6118-8CA2-E128A87BF686}"/>
              </a:ext>
            </a:extLst>
          </p:cNvPr>
          <p:cNvPicPr>
            <a:picLocks noChangeAspect="1"/>
          </p:cNvPicPr>
          <p:nvPr/>
        </p:nvPicPr>
        <p:blipFill>
          <a:blip r:embed="rId6"/>
          <a:stretch>
            <a:fillRect/>
          </a:stretch>
        </p:blipFill>
        <p:spPr>
          <a:xfrm>
            <a:off x="1132244" y="4269055"/>
            <a:ext cx="4550926" cy="2275462"/>
          </a:xfrm>
          <a:prstGeom prst="rect">
            <a:avLst/>
          </a:prstGeom>
        </p:spPr>
      </p:pic>
    </p:spTree>
    <p:extLst>
      <p:ext uri="{BB962C8B-B14F-4D97-AF65-F5344CB8AC3E}">
        <p14:creationId xmlns:p14="http://schemas.microsoft.com/office/powerpoint/2010/main" val="1093726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0F164E-5B6B-CA48-BF7F-9F8B64B9C12A}"/>
              </a:ext>
            </a:extLst>
          </p:cNvPr>
          <p:cNvSpPr>
            <a:spLocks noGrp="1"/>
          </p:cNvSpPr>
          <p:nvPr>
            <p:ph type="title"/>
          </p:nvPr>
        </p:nvSpPr>
        <p:spPr/>
        <p:txBody>
          <a:bodyPr/>
          <a:lstStyle/>
          <a:p>
            <a:r>
              <a:rPr lang="it-IT" dirty="0"/>
              <a:t>RISULTATI F-TEST</a:t>
            </a:r>
          </a:p>
        </p:txBody>
      </p:sp>
      <p:pic>
        <p:nvPicPr>
          <p:cNvPr id="5" name="Segnaposto contenuto 4">
            <a:extLst>
              <a:ext uri="{FF2B5EF4-FFF2-40B4-BE49-F238E27FC236}">
                <a16:creationId xmlns:a16="http://schemas.microsoft.com/office/drawing/2014/main" id="{5F12DA28-0274-5CAB-A710-5E3C034DD809}"/>
              </a:ext>
            </a:extLst>
          </p:cNvPr>
          <p:cNvPicPr>
            <a:picLocks noGrp="1" noChangeAspect="1"/>
          </p:cNvPicPr>
          <p:nvPr>
            <p:ph idx="1"/>
          </p:nvPr>
        </p:nvPicPr>
        <p:blipFill>
          <a:blip r:embed="rId2"/>
          <a:stretch>
            <a:fillRect/>
          </a:stretch>
        </p:blipFill>
        <p:spPr>
          <a:xfrm>
            <a:off x="1300999" y="1512224"/>
            <a:ext cx="9430385" cy="4309841"/>
          </a:xfrm>
          <a:prstGeom prst="rect">
            <a:avLst/>
          </a:prstGeom>
        </p:spPr>
      </p:pic>
      <p:sp>
        <p:nvSpPr>
          <p:cNvPr id="7" name="Rettangolo 6">
            <a:extLst>
              <a:ext uri="{FF2B5EF4-FFF2-40B4-BE49-F238E27FC236}">
                <a16:creationId xmlns:a16="http://schemas.microsoft.com/office/drawing/2014/main" id="{2D93A61D-EFC5-A6EF-F1B9-154EC07B9CF2}"/>
              </a:ext>
            </a:extLst>
          </p:cNvPr>
          <p:cNvSpPr>
            <a:spLocks noGrp="1"/>
          </p:cNvSpPr>
          <p:nvPr/>
        </p:nvSpPr>
        <p:spPr>
          <a:xfrm>
            <a:off x="481917" y="5907308"/>
            <a:ext cx="1714500" cy="342900"/>
          </a:xfrm>
          <a:prstGeom prst="rect">
            <a:avLst/>
          </a:prstGeom>
          <a:noFill/>
          <a:ln w="0">
            <a:noFill/>
          </a:ln>
        </p:spPr>
        <p:txBody>
          <a:bodyPr anchor="ctr">
            <a:normAutofit fontScale="95652"/>
          </a:bodyPr>
          <a:lstStyle/>
          <a:p>
            <a:pPr algn="ctr">
              <a:defRPr sz="1725" b="1">
                <a:solidFill>
                  <a:srgbClr val="0077B5"/>
                </a:solidFill>
                <a:latin typeface="Arial"/>
                <a:ea typeface="Arial"/>
                <a:cs typeface="Arial"/>
              </a:defRPr>
            </a:pPr>
            <a:r>
              <a:rPr sz="1725" b="1" dirty="0">
                <a:solidFill>
                  <a:srgbClr val="0077B5"/>
                </a:solidFill>
                <a:latin typeface="Arial"/>
                <a:ea typeface="Arial"/>
                <a:cs typeface="Arial"/>
              </a:rPr>
              <a:t>RRI→PPI</a:t>
            </a:r>
          </a:p>
        </p:txBody>
      </p:sp>
      <p:sp>
        <p:nvSpPr>
          <p:cNvPr id="9" name="Rettangolo 8">
            <a:extLst>
              <a:ext uri="{FF2B5EF4-FFF2-40B4-BE49-F238E27FC236}">
                <a16:creationId xmlns:a16="http://schemas.microsoft.com/office/drawing/2014/main" id="{A6E21D88-A9C0-DC6A-A3B0-5B06FDFF3442}"/>
              </a:ext>
            </a:extLst>
          </p:cNvPr>
          <p:cNvSpPr>
            <a:spLocks noGrp="1"/>
          </p:cNvSpPr>
          <p:nvPr/>
        </p:nvSpPr>
        <p:spPr>
          <a:xfrm>
            <a:off x="484087" y="6254549"/>
            <a:ext cx="1714500" cy="342900"/>
          </a:xfrm>
          <a:prstGeom prst="rect">
            <a:avLst/>
          </a:prstGeom>
          <a:noFill/>
          <a:ln w="0">
            <a:noFill/>
          </a:ln>
        </p:spPr>
        <p:txBody>
          <a:bodyPr anchor="ctr">
            <a:normAutofit fontScale="95652"/>
          </a:bodyPr>
          <a:lstStyle/>
          <a:p>
            <a:pPr algn="ctr">
              <a:defRPr sz="1725" b="1">
                <a:solidFill>
                  <a:srgbClr val="E85D04"/>
                </a:solidFill>
                <a:latin typeface="Arial"/>
                <a:ea typeface="Arial"/>
                <a:cs typeface="Arial"/>
              </a:defRPr>
            </a:pPr>
            <a:r>
              <a:rPr sz="1725" b="1">
                <a:solidFill>
                  <a:srgbClr val="E85D04"/>
                </a:solidFill>
                <a:latin typeface="Arial"/>
                <a:ea typeface="Arial"/>
                <a:cs typeface="Arial"/>
              </a:rPr>
              <a:t>PPI→RRI</a:t>
            </a:r>
          </a:p>
        </p:txBody>
      </p:sp>
      <p:sp>
        <p:nvSpPr>
          <p:cNvPr id="11" name="Rettangolo 10">
            <a:extLst>
              <a:ext uri="{FF2B5EF4-FFF2-40B4-BE49-F238E27FC236}">
                <a16:creationId xmlns:a16="http://schemas.microsoft.com/office/drawing/2014/main" id="{E708529E-A32C-A387-36A6-13C41D9F6D3B}"/>
              </a:ext>
            </a:extLst>
          </p:cNvPr>
          <p:cNvSpPr>
            <a:spLocks noGrp="1"/>
          </p:cNvSpPr>
          <p:nvPr/>
        </p:nvSpPr>
        <p:spPr>
          <a:xfrm>
            <a:off x="2197260" y="5525705"/>
            <a:ext cx="8509321" cy="1095375"/>
          </a:xfrm>
          <a:prstGeom prst="rect">
            <a:avLst/>
          </a:prstGeom>
          <a:noFill/>
          <a:ln w="0">
            <a:noFill/>
          </a:ln>
        </p:spPr>
        <p:txBody>
          <a:bodyPr anchor="ctr">
            <a:normAutofit/>
          </a:bodyPr>
          <a:lstStyle/>
          <a:p>
            <a:pPr>
              <a:defRPr sz="1575" b="0">
                <a:solidFill>
                  <a:srgbClr val="242424"/>
                </a:solidFill>
                <a:latin typeface="Arial"/>
                <a:ea typeface="Arial"/>
                <a:cs typeface="Arial"/>
              </a:defRPr>
            </a:pPr>
            <a:r>
              <a:rPr lang="it-IT" sz="1575" b="0" dirty="0">
                <a:solidFill>
                  <a:srgbClr val="242424"/>
                </a:solidFill>
                <a:latin typeface="Arial"/>
                <a:ea typeface="Arial"/>
                <a:cs typeface="Arial"/>
              </a:rPr>
              <a:t>        </a:t>
            </a:r>
            <a:r>
              <a:rPr sz="1575" b="0" dirty="0">
                <a:solidFill>
                  <a:srgbClr val="242424"/>
                </a:solidFill>
                <a:latin typeface="Arial"/>
                <a:ea typeface="Arial"/>
                <a:cs typeface="Arial"/>
              </a:rPr>
              <a:t>97% REST</a:t>
            </a:r>
            <a:r>
              <a:rPr lang="it-IT" sz="1575" b="0" dirty="0">
                <a:solidFill>
                  <a:srgbClr val="242424"/>
                </a:solidFill>
                <a:latin typeface="Arial"/>
                <a:ea typeface="Arial"/>
                <a:cs typeface="Arial"/>
              </a:rPr>
              <a:t>                                     </a:t>
            </a:r>
            <a:r>
              <a:rPr sz="1575" b="0" dirty="0">
                <a:solidFill>
                  <a:srgbClr val="242424"/>
                </a:solidFill>
                <a:latin typeface="Arial"/>
                <a:ea typeface="Arial"/>
                <a:cs typeface="Arial"/>
              </a:rPr>
              <a:t>100% TILT</a:t>
            </a:r>
            <a:r>
              <a:rPr lang="it-IT" sz="1575" b="0" dirty="0">
                <a:solidFill>
                  <a:srgbClr val="242424"/>
                </a:solidFill>
                <a:latin typeface="Arial"/>
                <a:ea typeface="Arial"/>
                <a:cs typeface="Arial"/>
              </a:rPr>
              <a:t>                                 </a:t>
            </a:r>
            <a:r>
              <a:rPr sz="1575" b="0" dirty="0">
                <a:solidFill>
                  <a:srgbClr val="242424"/>
                </a:solidFill>
                <a:latin typeface="Arial"/>
                <a:ea typeface="Arial"/>
                <a:cs typeface="Arial"/>
              </a:rPr>
              <a:t>97% MENTAL</a:t>
            </a:r>
          </a:p>
        </p:txBody>
      </p:sp>
      <p:sp>
        <p:nvSpPr>
          <p:cNvPr id="16" name="Rettangolo 15">
            <a:extLst>
              <a:ext uri="{FF2B5EF4-FFF2-40B4-BE49-F238E27FC236}">
                <a16:creationId xmlns:a16="http://schemas.microsoft.com/office/drawing/2014/main" id="{1EB8BADC-22A3-CA46-0EDC-81382855F172}"/>
              </a:ext>
            </a:extLst>
          </p:cNvPr>
          <p:cNvSpPr>
            <a:spLocks noGrp="1"/>
          </p:cNvSpPr>
          <p:nvPr/>
        </p:nvSpPr>
        <p:spPr>
          <a:xfrm>
            <a:off x="2210765" y="5851724"/>
            <a:ext cx="8509321" cy="1095375"/>
          </a:xfrm>
          <a:prstGeom prst="rect">
            <a:avLst/>
          </a:prstGeom>
          <a:noFill/>
          <a:ln w="0">
            <a:noFill/>
          </a:ln>
        </p:spPr>
        <p:txBody>
          <a:bodyPr anchor="ctr">
            <a:normAutofit/>
          </a:bodyPr>
          <a:lstStyle/>
          <a:p>
            <a:pPr>
              <a:defRPr sz="1575" b="0">
                <a:solidFill>
                  <a:srgbClr val="242424"/>
                </a:solidFill>
                <a:latin typeface="Arial"/>
                <a:ea typeface="Arial"/>
                <a:cs typeface="Arial"/>
              </a:defRPr>
            </a:pPr>
            <a:r>
              <a:rPr lang="it-IT" sz="1575" b="0" dirty="0">
                <a:solidFill>
                  <a:srgbClr val="242424"/>
                </a:solidFill>
                <a:latin typeface="Arial"/>
                <a:ea typeface="Arial"/>
                <a:cs typeface="Arial"/>
              </a:rPr>
              <a:t>        </a:t>
            </a:r>
            <a:r>
              <a:rPr lang="it-IT" sz="1575" dirty="0">
                <a:solidFill>
                  <a:srgbClr val="242424"/>
                </a:solidFill>
                <a:latin typeface="Arial"/>
                <a:ea typeface="Arial"/>
                <a:cs typeface="Arial"/>
              </a:rPr>
              <a:t>76</a:t>
            </a:r>
            <a:r>
              <a:rPr sz="1575" b="0" dirty="0">
                <a:solidFill>
                  <a:srgbClr val="242424"/>
                </a:solidFill>
                <a:latin typeface="Arial"/>
                <a:ea typeface="Arial"/>
                <a:cs typeface="Arial"/>
              </a:rPr>
              <a:t>% REST</a:t>
            </a:r>
            <a:r>
              <a:rPr lang="it-IT" sz="1575" b="0" dirty="0">
                <a:solidFill>
                  <a:srgbClr val="242424"/>
                </a:solidFill>
                <a:latin typeface="Arial"/>
                <a:ea typeface="Arial"/>
                <a:cs typeface="Arial"/>
              </a:rPr>
              <a:t>                                     </a:t>
            </a:r>
            <a:r>
              <a:rPr lang="it-IT" sz="1575" dirty="0">
                <a:solidFill>
                  <a:srgbClr val="242424"/>
                </a:solidFill>
                <a:latin typeface="Arial"/>
                <a:ea typeface="Arial"/>
                <a:cs typeface="Arial"/>
              </a:rPr>
              <a:t>83</a:t>
            </a:r>
            <a:r>
              <a:rPr sz="1575" b="0" dirty="0">
                <a:solidFill>
                  <a:srgbClr val="242424"/>
                </a:solidFill>
                <a:latin typeface="Arial"/>
                <a:ea typeface="Arial"/>
                <a:cs typeface="Arial"/>
              </a:rPr>
              <a:t>% TILT</a:t>
            </a:r>
            <a:r>
              <a:rPr lang="it-IT" sz="1575" b="0" dirty="0">
                <a:solidFill>
                  <a:srgbClr val="242424"/>
                </a:solidFill>
                <a:latin typeface="Arial"/>
                <a:ea typeface="Arial"/>
                <a:cs typeface="Arial"/>
              </a:rPr>
              <a:t>                                  </a:t>
            </a:r>
            <a:r>
              <a:rPr lang="it-IT" sz="1575" dirty="0">
                <a:solidFill>
                  <a:srgbClr val="242424"/>
                </a:solidFill>
                <a:latin typeface="Arial"/>
                <a:ea typeface="Arial"/>
                <a:cs typeface="Arial"/>
              </a:rPr>
              <a:t>55</a:t>
            </a:r>
            <a:r>
              <a:rPr sz="1575" b="0" dirty="0">
                <a:solidFill>
                  <a:srgbClr val="242424"/>
                </a:solidFill>
                <a:latin typeface="Arial"/>
                <a:ea typeface="Arial"/>
                <a:cs typeface="Arial"/>
              </a:rPr>
              <a:t>% MENTAL</a:t>
            </a:r>
          </a:p>
        </p:txBody>
      </p:sp>
      <p:sp>
        <p:nvSpPr>
          <p:cNvPr id="18" name="Rettangolo 17">
            <a:extLst>
              <a:ext uri="{FF2B5EF4-FFF2-40B4-BE49-F238E27FC236}">
                <a16:creationId xmlns:a16="http://schemas.microsoft.com/office/drawing/2014/main" id="{5638A062-18D0-AD5B-5BE0-3A80E2F036F7}"/>
              </a:ext>
            </a:extLst>
          </p:cNvPr>
          <p:cNvSpPr>
            <a:spLocks noGrp="1"/>
          </p:cNvSpPr>
          <p:nvPr/>
        </p:nvSpPr>
        <p:spPr>
          <a:xfrm>
            <a:off x="9942653" y="5991465"/>
            <a:ext cx="1981683" cy="523875"/>
          </a:xfrm>
          <a:prstGeom prst="rect">
            <a:avLst/>
          </a:prstGeom>
          <a:noFill/>
          <a:ln w="0">
            <a:noFill/>
          </a:ln>
        </p:spPr>
        <p:txBody>
          <a:bodyPr anchor="ctr">
            <a:normAutofit fontScale="72083" lnSpcReduction="20000"/>
          </a:bodyPr>
          <a:lstStyle/>
          <a:p>
            <a:pPr algn="ctr">
              <a:defRPr sz="1500" b="1">
                <a:solidFill>
                  <a:srgbClr val="123047"/>
                </a:solidFill>
                <a:latin typeface="Arial"/>
                <a:ea typeface="Arial"/>
                <a:cs typeface="Arial"/>
              </a:defRPr>
            </a:pPr>
            <a:r>
              <a:rPr sz="1500" b="1" dirty="0">
                <a:solidFill>
                  <a:srgbClr val="123047"/>
                </a:solidFill>
                <a:latin typeface="Arial"/>
                <a:ea typeface="Arial"/>
                <a:cs typeface="Arial"/>
              </a:rPr>
              <a:t>La </a:t>
            </a:r>
            <a:r>
              <a:rPr sz="1500" b="1" dirty="0" err="1">
                <a:solidFill>
                  <a:srgbClr val="123047"/>
                </a:solidFill>
                <a:latin typeface="Arial"/>
                <a:ea typeface="Arial"/>
                <a:cs typeface="Arial"/>
              </a:rPr>
              <a:t>direzione</a:t>
            </a:r>
            <a:r>
              <a:rPr sz="1500" b="1" dirty="0">
                <a:solidFill>
                  <a:srgbClr val="123047"/>
                </a:solidFill>
                <a:latin typeface="Arial"/>
                <a:ea typeface="Arial"/>
                <a:cs typeface="Arial"/>
              </a:rPr>
              <a:t> RRI→PPI è </a:t>
            </a:r>
            <a:r>
              <a:rPr sz="1500" b="1" dirty="0" err="1">
                <a:solidFill>
                  <a:srgbClr val="123047"/>
                </a:solidFill>
                <a:latin typeface="Arial"/>
                <a:ea typeface="Arial"/>
                <a:cs typeface="Arial"/>
              </a:rPr>
              <a:t>significativa</a:t>
            </a:r>
            <a:r>
              <a:rPr sz="1500" b="1" dirty="0">
                <a:solidFill>
                  <a:srgbClr val="123047"/>
                </a:solidFill>
                <a:latin typeface="Arial"/>
                <a:ea typeface="Arial"/>
                <a:cs typeface="Arial"/>
              </a:rPr>
              <a:t> </a:t>
            </a:r>
            <a:r>
              <a:rPr sz="1500" b="1" dirty="0" err="1">
                <a:solidFill>
                  <a:srgbClr val="123047"/>
                </a:solidFill>
                <a:latin typeface="Arial"/>
                <a:ea typeface="Arial"/>
                <a:cs typeface="Arial"/>
              </a:rPr>
              <a:t>nella</a:t>
            </a:r>
            <a:r>
              <a:rPr sz="1500" b="1" dirty="0">
                <a:solidFill>
                  <a:srgbClr val="123047"/>
                </a:solidFill>
                <a:latin typeface="Arial"/>
                <a:ea typeface="Arial"/>
                <a:cs typeface="Arial"/>
              </a:rPr>
              <a:t> quasi </a:t>
            </a:r>
            <a:r>
              <a:rPr sz="1500" b="1" dirty="0" err="1">
                <a:solidFill>
                  <a:srgbClr val="123047"/>
                </a:solidFill>
                <a:latin typeface="Arial"/>
                <a:ea typeface="Arial"/>
                <a:cs typeface="Arial"/>
              </a:rPr>
              <a:t>totalità</a:t>
            </a:r>
            <a:r>
              <a:rPr sz="1500" b="1" dirty="0">
                <a:solidFill>
                  <a:srgbClr val="123047"/>
                </a:solidFill>
                <a:latin typeface="Arial"/>
                <a:ea typeface="Arial"/>
                <a:cs typeface="Arial"/>
              </a:rPr>
              <a:t> </a:t>
            </a:r>
            <a:r>
              <a:rPr sz="1500" b="1" dirty="0" err="1">
                <a:solidFill>
                  <a:srgbClr val="123047"/>
                </a:solidFill>
                <a:latin typeface="Arial"/>
                <a:ea typeface="Arial"/>
                <a:cs typeface="Arial"/>
              </a:rPr>
              <a:t>dei</a:t>
            </a:r>
            <a:r>
              <a:rPr sz="1500" b="1" dirty="0">
                <a:solidFill>
                  <a:srgbClr val="123047"/>
                </a:solidFill>
                <a:latin typeface="Arial"/>
                <a:ea typeface="Arial"/>
                <a:cs typeface="Arial"/>
              </a:rPr>
              <a:t> </a:t>
            </a:r>
            <a:r>
              <a:rPr sz="1500" b="1" dirty="0" err="1">
                <a:solidFill>
                  <a:srgbClr val="123047"/>
                </a:solidFill>
                <a:latin typeface="Arial"/>
                <a:ea typeface="Arial"/>
                <a:cs typeface="Arial"/>
              </a:rPr>
              <a:t>soggetti</a:t>
            </a:r>
            <a:r>
              <a:rPr sz="1500" b="1" dirty="0">
                <a:solidFill>
                  <a:srgbClr val="123047"/>
                </a:solidFill>
                <a:latin typeface="Arial"/>
                <a:ea typeface="Arial"/>
                <a:cs typeface="Arial"/>
              </a:rPr>
              <a:t>.</a:t>
            </a:r>
          </a:p>
        </p:txBody>
      </p:sp>
    </p:spTree>
    <p:extLst>
      <p:ext uri="{BB962C8B-B14F-4D97-AF65-F5344CB8AC3E}">
        <p14:creationId xmlns:p14="http://schemas.microsoft.com/office/powerpoint/2010/main" val="4250402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4D2F2E-1E61-3FD3-42B4-F89D562F2D7D}"/>
              </a:ext>
            </a:extLst>
          </p:cNvPr>
          <p:cNvSpPr>
            <a:spLocks noGrp="1"/>
          </p:cNvSpPr>
          <p:nvPr>
            <p:ph type="title"/>
          </p:nvPr>
        </p:nvSpPr>
        <p:spPr/>
        <p:txBody>
          <a:bodyPr/>
          <a:lstStyle/>
          <a:p>
            <a:r>
              <a:rPr lang="it-IT" dirty="0"/>
              <a:t>ANOVA TEST</a:t>
            </a:r>
          </a:p>
        </p:txBody>
      </p:sp>
      <p:pic>
        <p:nvPicPr>
          <p:cNvPr id="7" name="Segnaposto contenuto 6">
            <a:extLst>
              <a:ext uri="{FF2B5EF4-FFF2-40B4-BE49-F238E27FC236}">
                <a16:creationId xmlns:a16="http://schemas.microsoft.com/office/drawing/2014/main" id="{68F42416-1C93-2BC5-4C47-6285386283E1}"/>
              </a:ext>
            </a:extLst>
          </p:cNvPr>
          <p:cNvPicPr>
            <a:picLocks noGrp="1" noChangeAspect="1"/>
          </p:cNvPicPr>
          <p:nvPr>
            <p:ph idx="1"/>
          </p:nvPr>
        </p:nvPicPr>
        <p:blipFill>
          <a:blip r:embed="rId2"/>
          <a:stretch>
            <a:fillRect/>
          </a:stretch>
        </p:blipFill>
        <p:spPr>
          <a:xfrm>
            <a:off x="594381" y="1811133"/>
            <a:ext cx="5953144" cy="2101110"/>
          </a:xfrm>
          <a:prstGeom prst="rect">
            <a:avLst/>
          </a:prstGeom>
        </p:spPr>
      </p:pic>
      <p:sp>
        <p:nvSpPr>
          <p:cNvPr id="9" name="CasellaDiTesto 8">
            <a:extLst>
              <a:ext uri="{FF2B5EF4-FFF2-40B4-BE49-F238E27FC236}">
                <a16:creationId xmlns:a16="http://schemas.microsoft.com/office/drawing/2014/main" id="{7F0E9DF0-65E7-0546-78BF-DC90B2BE9532}"/>
              </a:ext>
            </a:extLst>
          </p:cNvPr>
          <p:cNvSpPr txBox="1"/>
          <p:nvPr/>
        </p:nvSpPr>
        <p:spPr>
          <a:xfrm>
            <a:off x="7384648" y="2021501"/>
            <a:ext cx="3828326" cy="1477328"/>
          </a:xfrm>
          <a:prstGeom prst="rect">
            <a:avLst/>
          </a:prstGeom>
          <a:noFill/>
        </p:spPr>
        <p:txBody>
          <a:bodyPr wrap="square">
            <a:spAutoFit/>
          </a:bodyPr>
          <a:lstStyle/>
          <a:p>
            <a:pPr algn="just"/>
            <a:r>
              <a:rPr lang="it-IT" dirty="0">
                <a:latin typeface="+mj-lt"/>
              </a:rPr>
              <a:t>Il test ANOVA confronta il valore medio della misura di causalità di Granger nelle tre condizioni sperimentali. L’analisi viene eseguita separatamente per le direzioni RRI→PPI e PPI→RRI.</a:t>
            </a:r>
          </a:p>
        </p:txBody>
      </p:sp>
      <p:sp>
        <p:nvSpPr>
          <p:cNvPr id="11" name="CasellaDiTesto 10">
            <a:extLst>
              <a:ext uri="{FF2B5EF4-FFF2-40B4-BE49-F238E27FC236}">
                <a16:creationId xmlns:a16="http://schemas.microsoft.com/office/drawing/2014/main" id="{A5198048-781D-4DF3-23AA-2B1C1A1B3CB4}"/>
              </a:ext>
            </a:extLst>
          </p:cNvPr>
          <p:cNvSpPr txBox="1"/>
          <p:nvPr/>
        </p:nvSpPr>
        <p:spPr>
          <a:xfrm>
            <a:off x="512181" y="4891626"/>
            <a:ext cx="4962645" cy="923330"/>
          </a:xfrm>
          <a:prstGeom prst="rect">
            <a:avLst/>
          </a:prstGeom>
          <a:noFill/>
        </p:spPr>
        <p:txBody>
          <a:bodyPr wrap="square">
            <a:spAutoFit/>
          </a:bodyPr>
          <a:lstStyle/>
          <a:p>
            <a:pPr algn="just"/>
            <a:r>
              <a:rPr lang="it-IT" dirty="0">
                <a:latin typeface="+mj-lt"/>
              </a:rPr>
              <a:t>La misura di causalità di Granger cambia significativamente tra le condizioni sia nella direzione RRI→PPI sia nella direzione PPI→RRI.</a:t>
            </a:r>
          </a:p>
        </p:txBody>
      </p:sp>
      <p:pic>
        <p:nvPicPr>
          <p:cNvPr id="13" name="Immagine 12">
            <a:extLst>
              <a:ext uri="{FF2B5EF4-FFF2-40B4-BE49-F238E27FC236}">
                <a16:creationId xmlns:a16="http://schemas.microsoft.com/office/drawing/2014/main" id="{90A72EC4-052A-1742-C43C-AF9C540B06AC}"/>
              </a:ext>
            </a:extLst>
          </p:cNvPr>
          <p:cNvPicPr>
            <a:picLocks noChangeAspect="1"/>
          </p:cNvPicPr>
          <p:nvPr/>
        </p:nvPicPr>
        <p:blipFill>
          <a:blip r:embed="rId3"/>
          <a:stretch>
            <a:fillRect/>
          </a:stretch>
        </p:blipFill>
        <p:spPr>
          <a:xfrm>
            <a:off x="5978301" y="4665547"/>
            <a:ext cx="5857448" cy="647231"/>
          </a:xfrm>
          <a:prstGeom prst="rect">
            <a:avLst/>
          </a:prstGeom>
        </p:spPr>
      </p:pic>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8944945C-F50D-9149-82AE-290E05F6623E}"/>
                  </a:ext>
                </a:extLst>
              </p:cNvPr>
              <p:cNvSpPr txBox="1"/>
              <p:nvPr/>
            </p:nvSpPr>
            <p:spPr>
              <a:xfrm>
                <a:off x="-147576" y="4369971"/>
                <a:ext cx="6094070" cy="369332"/>
              </a:xfrm>
              <a:prstGeom prst="rect">
                <a:avLst/>
              </a:prstGeom>
              <a:noFill/>
            </p:spPr>
            <p:txBody>
              <a:bodyPr wrap="square">
                <a:spAutoFit/>
              </a:bodyPr>
              <a:lstStyle/>
              <a:p>
                <a:pPr/>
                <a14:m>
                  <m:oMathPara xmlns:m="http://schemas.openxmlformats.org/officeDocument/2006/math">
                    <m:oMath>
                      <m:r>
                        <a:rPr lang="it-IT" sz="1800" b="1" i="1" smtClean="0">
                          <a:latin typeface="Cambria Math" panose="02040503050406030204" pitchFamily="18" charset="0"/>
                        </a:rPr>
                        <m:t>𝒑</m:t>
                      </m:r>
                      <m:r>
                        <a:rPr lang="it-IT" sz="1800" b="1" i="1" smtClean="0">
                          <a:latin typeface="Cambria Math" panose="02040503050406030204" pitchFamily="18" charset="0"/>
                        </a:rPr>
                        <m:t>−</m:t>
                      </m:r>
                      <m:r>
                        <a:rPr lang="it-IT" sz="1800" b="1" i="1" smtClean="0">
                          <a:latin typeface="Cambria Math" panose="02040503050406030204" pitchFamily="18" charset="0"/>
                        </a:rPr>
                        <m:t>𝒗𝒂𝒍𝒖𝒆</m:t>
                      </m:r>
                      <m:r>
                        <a:rPr lang="it-IT" sz="1800" b="1" i="1" smtClean="0">
                          <a:latin typeface="Cambria Math" panose="02040503050406030204" pitchFamily="18" charset="0"/>
                        </a:rPr>
                        <m:t>&lt;</m:t>
                      </m:r>
                      <m:r>
                        <a:rPr lang="it-IT" sz="1800" b="1" i="1" smtClean="0">
                          <a:latin typeface="Cambria Math" panose="02040503050406030204" pitchFamily="18" charset="0"/>
                          <a:ea typeface="Cambria Math" panose="02040503050406030204" pitchFamily="18" charset="0"/>
                        </a:rPr>
                        <m:t>𝜶</m:t>
                      </m:r>
                    </m:oMath>
                  </m:oMathPara>
                </a14:m>
                <a:endParaRPr lang="it-IT" sz="1800" b="1" dirty="0"/>
              </a:p>
            </p:txBody>
          </p:sp>
        </mc:Choice>
        <mc:Fallback xmlns="">
          <p:sp>
            <p:nvSpPr>
              <p:cNvPr id="15" name="CasellaDiTesto 14">
                <a:extLst>
                  <a:ext uri="{FF2B5EF4-FFF2-40B4-BE49-F238E27FC236}">
                    <a16:creationId xmlns:a16="http://schemas.microsoft.com/office/drawing/2014/main" id="{8944945C-F50D-9149-82AE-290E05F6623E}"/>
                  </a:ext>
                </a:extLst>
              </p:cNvPr>
              <p:cNvSpPr txBox="1">
                <a:spLocks noRot="1" noChangeAspect="1" noMove="1" noResize="1" noEditPoints="1" noAdjustHandles="1" noChangeArrowheads="1" noChangeShapeType="1" noTextEdit="1"/>
              </p:cNvSpPr>
              <p:nvPr/>
            </p:nvSpPr>
            <p:spPr>
              <a:xfrm>
                <a:off x="-147576" y="4369971"/>
                <a:ext cx="6094070" cy="369332"/>
              </a:xfrm>
              <a:prstGeom prst="rect">
                <a:avLst/>
              </a:prstGeom>
              <a:blipFill>
                <a:blip r:embed="rId4"/>
                <a:stretch>
                  <a:fillRect b="-10000"/>
                </a:stretch>
              </a:blipFill>
            </p:spPr>
            <p:txBody>
              <a:bodyPr/>
              <a:lstStyle/>
              <a:p>
                <a:r>
                  <a:rPr lang="it-IT">
                    <a:noFill/>
                  </a:rPr>
                  <a:t> </a:t>
                </a:r>
              </a:p>
            </p:txBody>
          </p:sp>
        </mc:Fallback>
      </mc:AlternateContent>
    </p:spTree>
    <p:extLst>
      <p:ext uri="{BB962C8B-B14F-4D97-AF65-F5344CB8AC3E}">
        <p14:creationId xmlns:p14="http://schemas.microsoft.com/office/powerpoint/2010/main" val="2221895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835B98-6860-B03A-DA90-1B2D7CAE319E}"/>
              </a:ext>
            </a:extLst>
          </p:cNvPr>
          <p:cNvSpPr>
            <a:spLocks noGrp="1"/>
          </p:cNvSpPr>
          <p:nvPr>
            <p:ph type="title"/>
          </p:nvPr>
        </p:nvSpPr>
        <p:spPr/>
        <p:txBody>
          <a:bodyPr/>
          <a:lstStyle/>
          <a:p>
            <a:r>
              <a:rPr lang="it-IT" dirty="0"/>
              <a:t>T-TEST TRA LE FASI</a:t>
            </a:r>
          </a:p>
        </p:txBody>
      </p:sp>
      <p:pic>
        <p:nvPicPr>
          <p:cNvPr id="5" name="Segnaposto contenuto 4">
            <a:extLst>
              <a:ext uri="{FF2B5EF4-FFF2-40B4-BE49-F238E27FC236}">
                <a16:creationId xmlns:a16="http://schemas.microsoft.com/office/drawing/2014/main" id="{077E0C40-5449-68F4-A1EC-FDA81D48E8E0}"/>
              </a:ext>
            </a:extLst>
          </p:cNvPr>
          <p:cNvPicPr>
            <a:picLocks noGrp="1" noChangeAspect="1"/>
          </p:cNvPicPr>
          <p:nvPr>
            <p:ph idx="1"/>
          </p:nvPr>
        </p:nvPicPr>
        <p:blipFill>
          <a:blip r:embed="rId3"/>
          <a:srcRect b="29628"/>
          <a:stretch>
            <a:fillRect/>
          </a:stretch>
        </p:blipFill>
        <p:spPr>
          <a:xfrm>
            <a:off x="262481" y="2790473"/>
            <a:ext cx="5980182" cy="2962145"/>
          </a:xfrm>
          <a:prstGeom prst="rect">
            <a:avLst/>
          </a:prstGeom>
        </p:spPr>
      </p:pic>
      <p:sp>
        <p:nvSpPr>
          <p:cNvPr id="7" name="CasellaDiTesto 6">
            <a:extLst>
              <a:ext uri="{FF2B5EF4-FFF2-40B4-BE49-F238E27FC236}">
                <a16:creationId xmlns:a16="http://schemas.microsoft.com/office/drawing/2014/main" id="{BB72CD00-29B8-F63B-94F0-4FB7A8F39646}"/>
              </a:ext>
            </a:extLst>
          </p:cNvPr>
          <p:cNvSpPr txBox="1"/>
          <p:nvPr/>
        </p:nvSpPr>
        <p:spPr>
          <a:xfrm>
            <a:off x="708949" y="1558513"/>
            <a:ext cx="10831009" cy="646331"/>
          </a:xfrm>
          <a:prstGeom prst="rect">
            <a:avLst/>
          </a:prstGeom>
          <a:noFill/>
        </p:spPr>
        <p:txBody>
          <a:bodyPr wrap="square">
            <a:spAutoFit/>
          </a:bodyPr>
          <a:lstStyle/>
          <a:p>
            <a:pPr algn="just"/>
            <a:r>
              <a:rPr lang="it-IT" dirty="0">
                <a:latin typeface="+mj-lt"/>
              </a:rPr>
              <a:t>Il t-test appaiato valuta se la misura di causalità di Granger presenta differenze significative tra ogni coppia di condizioni sperimentali. L’analisi viene effettuata separatamente per le direzioni RRI→PPI e PPI→RRI.</a:t>
            </a:r>
          </a:p>
        </p:txBody>
      </p:sp>
      <p:pic>
        <p:nvPicPr>
          <p:cNvPr id="9" name="Immagine 8">
            <a:extLst>
              <a:ext uri="{FF2B5EF4-FFF2-40B4-BE49-F238E27FC236}">
                <a16:creationId xmlns:a16="http://schemas.microsoft.com/office/drawing/2014/main" id="{A63ACD33-B96A-1A03-488D-E6270FF6F523}"/>
              </a:ext>
            </a:extLst>
          </p:cNvPr>
          <p:cNvPicPr>
            <a:picLocks noChangeAspect="1"/>
          </p:cNvPicPr>
          <p:nvPr/>
        </p:nvPicPr>
        <p:blipFill>
          <a:blip r:embed="rId4"/>
          <a:stretch>
            <a:fillRect/>
          </a:stretch>
        </p:blipFill>
        <p:spPr>
          <a:xfrm>
            <a:off x="5816090" y="2546430"/>
            <a:ext cx="5563716" cy="3669175"/>
          </a:xfrm>
          <a:prstGeom prst="rect">
            <a:avLst/>
          </a:prstGeom>
        </p:spPr>
      </p:pic>
      <p:sp>
        <p:nvSpPr>
          <p:cNvPr id="11" name="CasellaDiTesto 10">
            <a:extLst>
              <a:ext uri="{FF2B5EF4-FFF2-40B4-BE49-F238E27FC236}">
                <a16:creationId xmlns:a16="http://schemas.microsoft.com/office/drawing/2014/main" id="{B0F95451-98E8-0F39-B330-761EF10CD274}"/>
              </a:ext>
            </a:extLst>
          </p:cNvPr>
          <p:cNvSpPr txBox="1"/>
          <p:nvPr/>
        </p:nvSpPr>
        <p:spPr>
          <a:xfrm>
            <a:off x="558479" y="6119865"/>
            <a:ext cx="10796285" cy="646331"/>
          </a:xfrm>
          <a:prstGeom prst="rect">
            <a:avLst/>
          </a:prstGeom>
          <a:noFill/>
        </p:spPr>
        <p:txBody>
          <a:bodyPr wrap="square">
            <a:spAutoFit/>
          </a:bodyPr>
          <a:lstStyle/>
          <a:p>
            <a:pPr algn="just"/>
            <a:r>
              <a:rPr lang="it-IT" dirty="0">
                <a:latin typeface="+mj-lt"/>
              </a:rPr>
              <a:t>Le distribuzioni vengono rappresentate mediante </a:t>
            </a:r>
            <a:r>
              <a:rPr lang="it-IT" dirty="0" err="1">
                <a:latin typeface="+mj-lt"/>
              </a:rPr>
              <a:t>boxplot</a:t>
            </a:r>
            <a:r>
              <a:rPr lang="it-IT" dirty="0">
                <a:latin typeface="+mj-lt"/>
              </a:rPr>
              <a:t>. Le coppie di condizioni significativamente differenti, con p&lt;0.05, sono indicate mediante una linea e un asterisco.</a:t>
            </a:r>
          </a:p>
        </p:txBody>
      </p:sp>
      <p:sp>
        <p:nvSpPr>
          <p:cNvPr id="13" name="CasellaDiTesto 12">
            <a:extLst>
              <a:ext uri="{FF2B5EF4-FFF2-40B4-BE49-F238E27FC236}">
                <a16:creationId xmlns:a16="http://schemas.microsoft.com/office/drawing/2014/main" id="{F883AC66-70F3-6B42-8D40-4EFD81A94F4D}"/>
              </a:ext>
            </a:extLst>
          </p:cNvPr>
          <p:cNvSpPr txBox="1"/>
          <p:nvPr/>
        </p:nvSpPr>
        <p:spPr>
          <a:xfrm>
            <a:off x="9062978" y="0"/>
            <a:ext cx="3129022" cy="646331"/>
          </a:xfrm>
          <a:prstGeom prst="rect">
            <a:avLst/>
          </a:prstGeom>
          <a:noFill/>
        </p:spPr>
        <p:txBody>
          <a:bodyPr wrap="square" rtlCol="0">
            <a:spAutoFit/>
          </a:bodyPr>
          <a:lstStyle/>
          <a:p>
            <a:pPr algn="r"/>
            <a:r>
              <a:rPr lang="it-IT" dirty="0">
                <a:latin typeface="+mj-lt"/>
              </a:rPr>
              <a:t>* </a:t>
            </a:r>
            <a:r>
              <a:rPr lang="it-IT" dirty="0">
                <a:latin typeface="+mj-lt"/>
                <a:cs typeface="Times New Roman" panose="02020603050405020304" pitchFamily="18" charset="0"/>
              </a:rPr>
              <a:t>codice analogo per il plot del legame PPI-&gt;RRI</a:t>
            </a:r>
          </a:p>
        </p:txBody>
      </p:sp>
    </p:spTree>
    <p:extLst>
      <p:ext uri="{BB962C8B-B14F-4D97-AF65-F5344CB8AC3E}">
        <p14:creationId xmlns:p14="http://schemas.microsoft.com/office/powerpoint/2010/main" val="4194588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80815A-4DE9-5AAB-4B85-FDFEFB9E84D3}"/>
              </a:ext>
            </a:extLst>
          </p:cNvPr>
          <p:cNvSpPr>
            <a:spLocks noGrp="1"/>
          </p:cNvSpPr>
          <p:nvPr>
            <p:ph type="title"/>
          </p:nvPr>
        </p:nvSpPr>
        <p:spPr/>
        <p:txBody>
          <a:bodyPr/>
          <a:lstStyle/>
          <a:p>
            <a:r>
              <a:rPr lang="it-IT" dirty="0"/>
              <a:t>RISULTATI T-TEST</a:t>
            </a:r>
          </a:p>
        </p:txBody>
      </p:sp>
      <p:pic>
        <p:nvPicPr>
          <p:cNvPr id="5" name="Segnaposto contenuto 4">
            <a:extLst>
              <a:ext uri="{FF2B5EF4-FFF2-40B4-BE49-F238E27FC236}">
                <a16:creationId xmlns:a16="http://schemas.microsoft.com/office/drawing/2014/main" id="{404D9362-62F0-E9CD-824D-90D40A59BFB7}"/>
              </a:ext>
            </a:extLst>
          </p:cNvPr>
          <p:cNvPicPr>
            <a:picLocks noGrp="1" noChangeAspect="1"/>
          </p:cNvPicPr>
          <p:nvPr>
            <p:ph idx="1"/>
          </p:nvPr>
        </p:nvPicPr>
        <p:blipFill>
          <a:blip r:embed="rId2"/>
          <a:stretch>
            <a:fillRect/>
          </a:stretch>
        </p:blipFill>
        <p:spPr>
          <a:xfrm>
            <a:off x="623180" y="1489075"/>
            <a:ext cx="10662135" cy="4930236"/>
          </a:xfrm>
          <a:prstGeom prst="rect">
            <a:avLst/>
          </a:prstGeom>
        </p:spPr>
      </p:pic>
    </p:spTree>
    <p:extLst>
      <p:ext uri="{BB962C8B-B14F-4D97-AF65-F5344CB8AC3E}">
        <p14:creationId xmlns:p14="http://schemas.microsoft.com/office/powerpoint/2010/main" val="3656426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2A04B9C-7D36-D670-089C-D7F8F4831A49}"/>
              </a:ext>
            </a:extLst>
          </p:cNvPr>
          <p:cNvSpPr>
            <a:spLocks noGrp="1"/>
          </p:cNvSpPr>
          <p:nvPr>
            <p:ph type="title"/>
          </p:nvPr>
        </p:nvSpPr>
        <p:spPr/>
        <p:txBody>
          <a:bodyPr/>
          <a:lstStyle/>
          <a:p>
            <a:r>
              <a:rPr lang="it-IT" dirty="0"/>
              <a:t>T-TEST SULLA STESSA FASE</a:t>
            </a:r>
          </a:p>
        </p:txBody>
      </p:sp>
      <p:pic>
        <p:nvPicPr>
          <p:cNvPr id="7" name="Immagine 6">
            <a:extLst>
              <a:ext uri="{FF2B5EF4-FFF2-40B4-BE49-F238E27FC236}">
                <a16:creationId xmlns:a16="http://schemas.microsoft.com/office/drawing/2014/main" id="{83CDA948-6F3B-0EF0-DDC8-85234B5E10E1}"/>
              </a:ext>
            </a:extLst>
          </p:cNvPr>
          <p:cNvPicPr>
            <a:picLocks noChangeAspect="1"/>
          </p:cNvPicPr>
          <p:nvPr/>
        </p:nvPicPr>
        <p:blipFill>
          <a:blip r:embed="rId2"/>
          <a:stretch>
            <a:fillRect/>
          </a:stretch>
        </p:blipFill>
        <p:spPr>
          <a:xfrm>
            <a:off x="530686" y="2501036"/>
            <a:ext cx="5667375" cy="1971675"/>
          </a:xfrm>
          <a:prstGeom prst="rect">
            <a:avLst/>
          </a:prstGeom>
        </p:spPr>
      </p:pic>
      <p:pic>
        <p:nvPicPr>
          <p:cNvPr id="11" name="Segnaposto contenuto 10">
            <a:extLst>
              <a:ext uri="{FF2B5EF4-FFF2-40B4-BE49-F238E27FC236}">
                <a16:creationId xmlns:a16="http://schemas.microsoft.com/office/drawing/2014/main" id="{7E13EE93-A8AD-F17A-8722-235495485AB7}"/>
              </a:ext>
            </a:extLst>
          </p:cNvPr>
          <p:cNvPicPr>
            <a:picLocks noGrp="1" noChangeAspect="1"/>
          </p:cNvPicPr>
          <p:nvPr>
            <p:ph idx="1"/>
          </p:nvPr>
        </p:nvPicPr>
        <p:blipFill>
          <a:blip r:embed="rId3"/>
          <a:stretch>
            <a:fillRect/>
          </a:stretch>
        </p:blipFill>
        <p:spPr>
          <a:xfrm>
            <a:off x="6072108" y="2291787"/>
            <a:ext cx="5583123" cy="3828427"/>
          </a:xfrm>
          <a:prstGeom prst="rect">
            <a:avLst/>
          </a:prstGeom>
        </p:spPr>
      </p:pic>
      <p:sp>
        <p:nvSpPr>
          <p:cNvPr id="13" name="CasellaDiTesto 12">
            <a:extLst>
              <a:ext uri="{FF2B5EF4-FFF2-40B4-BE49-F238E27FC236}">
                <a16:creationId xmlns:a16="http://schemas.microsoft.com/office/drawing/2014/main" id="{3BDC6C9B-5026-EED0-9A0F-21C6D19AD518}"/>
              </a:ext>
            </a:extLst>
          </p:cNvPr>
          <p:cNvSpPr txBox="1"/>
          <p:nvPr/>
        </p:nvSpPr>
        <p:spPr>
          <a:xfrm>
            <a:off x="789973" y="1431588"/>
            <a:ext cx="10587942" cy="923330"/>
          </a:xfrm>
          <a:prstGeom prst="rect">
            <a:avLst/>
          </a:prstGeom>
          <a:noFill/>
        </p:spPr>
        <p:txBody>
          <a:bodyPr wrap="square">
            <a:spAutoFit/>
          </a:bodyPr>
          <a:lstStyle/>
          <a:p>
            <a:pPr algn="just"/>
            <a:r>
              <a:rPr lang="it-IT" dirty="0">
                <a:latin typeface="+mj-lt"/>
              </a:rPr>
              <a:t>Il t-test appaiato confronta, nella stessa condizione sperimentale, le misure di causalità di Granger nelle direzioni RRI→PPI e PPI→RRI. Il test permette di verificare se l’accoppiamento presenta un’asimmetria direzionale significativa.</a:t>
            </a:r>
          </a:p>
        </p:txBody>
      </p:sp>
      <p:sp>
        <p:nvSpPr>
          <p:cNvPr id="15" name="CasellaDiTesto 14">
            <a:extLst>
              <a:ext uri="{FF2B5EF4-FFF2-40B4-BE49-F238E27FC236}">
                <a16:creationId xmlns:a16="http://schemas.microsoft.com/office/drawing/2014/main" id="{DCB093E7-7AE1-7CA0-9E2B-84D30BCBE8A5}"/>
              </a:ext>
            </a:extLst>
          </p:cNvPr>
          <p:cNvSpPr txBox="1"/>
          <p:nvPr/>
        </p:nvSpPr>
        <p:spPr>
          <a:xfrm>
            <a:off x="986743" y="4764303"/>
            <a:ext cx="4245014" cy="1200329"/>
          </a:xfrm>
          <a:prstGeom prst="rect">
            <a:avLst/>
          </a:prstGeom>
          <a:noFill/>
        </p:spPr>
        <p:txBody>
          <a:bodyPr wrap="square">
            <a:spAutoFit/>
          </a:bodyPr>
          <a:lstStyle/>
          <a:p>
            <a:pPr algn="just"/>
            <a:r>
              <a:rPr lang="it-IT" dirty="0">
                <a:latin typeface="+mj-lt"/>
              </a:rPr>
              <a:t>I </a:t>
            </a:r>
            <a:r>
              <a:rPr lang="it-IT" dirty="0" err="1">
                <a:latin typeface="+mj-lt"/>
              </a:rPr>
              <a:t>boxplot</a:t>
            </a:r>
            <a:r>
              <a:rPr lang="it-IT" dirty="0">
                <a:latin typeface="+mj-lt"/>
              </a:rPr>
              <a:t> rappresentano le distribuzioni delle due misure nei soggetti. L’asterisco indica una differenza significativa tra le direzioni, con p&lt;0.05.</a:t>
            </a:r>
          </a:p>
        </p:txBody>
      </p:sp>
    </p:spTree>
    <p:extLst>
      <p:ext uri="{BB962C8B-B14F-4D97-AF65-F5344CB8AC3E}">
        <p14:creationId xmlns:p14="http://schemas.microsoft.com/office/powerpoint/2010/main" val="1244516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3E4031-6773-C719-3811-1E5170480D14}"/>
              </a:ext>
            </a:extLst>
          </p:cNvPr>
          <p:cNvSpPr>
            <a:spLocks noGrp="1"/>
          </p:cNvSpPr>
          <p:nvPr>
            <p:ph type="title"/>
          </p:nvPr>
        </p:nvSpPr>
        <p:spPr/>
        <p:txBody>
          <a:bodyPr/>
          <a:lstStyle/>
          <a:p>
            <a:r>
              <a:rPr lang="it-IT" dirty="0"/>
              <a:t>RISULTATI T-TEST SULLA STESSA FASE </a:t>
            </a:r>
          </a:p>
        </p:txBody>
      </p:sp>
      <p:pic>
        <p:nvPicPr>
          <p:cNvPr id="5" name="Segnaposto contenuto 4">
            <a:extLst>
              <a:ext uri="{FF2B5EF4-FFF2-40B4-BE49-F238E27FC236}">
                <a16:creationId xmlns:a16="http://schemas.microsoft.com/office/drawing/2014/main" id="{2A70270B-9C26-7413-CBAB-96A2B2AA7B3F}"/>
              </a:ext>
            </a:extLst>
          </p:cNvPr>
          <p:cNvPicPr>
            <a:picLocks noGrp="1" noChangeAspect="1"/>
          </p:cNvPicPr>
          <p:nvPr>
            <p:ph idx="1"/>
          </p:nvPr>
        </p:nvPicPr>
        <p:blipFill>
          <a:blip r:embed="rId2"/>
          <a:stretch>
            <a:fillRect/>
          </a:stretch>
        </p:blipFill>
        <p:spPr>
          <a:xfrm>
            <a:off x="1770927" y="1477500"/>
            <a:ext cx="8677772" cy="4051814"/>
          </a:xfrm>
          <a:prstGeom prst="rect">
            <a:avLst/>
          </a:prstGeom>
        </p:spPr>
      </p:pic>
      <p:sp>
        <p:nvSpPr>
          <p:cNvPr id="7" name="CasellaDiTesto 6">
            <a:extLst>
              <a:ext uri="{FF2B5EF4-FFF2-40B4-BE49-F238E27FC236}">
                <a16:creationId xmlns:a16="http://schemas.microsoft.com/office/drawing/2014/main" id="{67EC4270-B481-A7D2-C6BD-97957B2F2BFC}"/>
              </a:ext>
            </a:extLst>
          </p:cNvPr>
          <p:cNvSpPr txBox="1"/>
          <p:nvPr/>
        </p:nvSpPr>
        <p:spPr>
          <a:xfrm>
            <a:off x="729206" y="5748945"/>
            <a:ext cx="10625559" cy="923330"/>
          </a:xfrm>
          <a:prstGeom prst="rect">
            <a:avLst/>
          </a:prstGeom>
          <a:noFill/>
        </p:spPr>
        <p:txBody>
          <a:bodyPr wrap="square">
            <a:spAutoFit/>
          </a:bodyPr>
          <a:lstStyle/>
          <a:p>
            <a:pPr algn="just"/>
            <a:r>
              <a:rPr lang="it-IT" dirty="0">
                <a:latin typeface="+mj-lt"/>
              </a:rPr>
              <a:t>In tutte le condizioni analizzate, la misura di causalità di Granger RRI→PPI risulta significativamente maggiore rispetto alla direzione PPI→RRI. Questo evidenzia un'asimmetria nella capacità predittiva delle due serie, con una prevalenza della direzione RRI→PPI.</a:t>
            </a:r>
          </a:p>
        </p:txBody>
      </p:sp>
    </p:spTree>
    <p:extLst>
      <p:ext uri="{BB962C8B-B14F-4D97-AF65-F5344CB8AC3E}">
        <p14:creationId xmlns:p14="http://schemas.microsoft.com/office/powerpoint/2010/main" val="2307236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978BE1-0FBC-A177-46A7-5DC9137C4F88}"/>
              </a:ext>
            </a:extLst>
          </p:cNvPr>
          <p:cNvSpPr>
            <a:spLocks noGrp="1"/>
          </p:cNvSpPr>
          <p:nvPr>
            <p:ph type="title"/>
          </p:nvPr>
        </p:nvSpPr>
        <p:spPr/>
        <p:txBody>
          <a:bodyPr/>
          <a:lstStyle/>
          <a:p>
            <a:r>
              <a:rPr lang="it-IT" dirty="0"/>
              <a:t>CONCLUSIONI</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CEE37BF1-E67C-CEB0-CC1D-9EAB17F44FDC}"/>
                  </a:ext>
                </a:extLst>
              </p:cNvPr>
              <p:cNvSpPr>
                <a:spLocks noGrp="1"/>
              </p:cNvSpPr>
              <p:nvPr>
                <p:ph idx="1"/>
              </p:nvPr>
            </p:nvSpPr>
            <p:spPr/>
            <p:txBody>
              <a:bodyPr>
                <a:normAutofit fontScale="92500" lnSpcReduction="10000"/>
              </a:bodyPr>
              <a:lstStyle/>
              <a:p>
                <a:r>
                  <a:rPr lang="it-IT" sz="2400" b="1" dirty="0">
                    <a:latin typeface="+mj-lt"/>
                  </a:rPr>
                  <a:t>Elevata somiglianza tra RRI e PPI</a:t>
                </a:r>
                <a:r>
                  <a:rPr lang="it-IT" sz="2400" dirty="0">
                    <a:latin typeface="+mj-lt"/>
                  </a:rPr>
                  <a:t>, con coefficienti di correlazione mediani superiori a 0.98 e </a:t>
                </a:r>
                <a14:m>
                  <m:oMath xmlns:m="http://schemas.openxmlformats.org/officeDocument/2006/math">
                    <m:sSup>
                      <m:sSupPr>
                        <m:ctrlPr>
                          <a:rPr lang="it-IT" sz="2400" i="1">
                            <a:latin typeface="Cambria Math" panose="02040503050406030204" pitchFamily="18" charset="0"/>
                            <a:ea typeface="Cambria Math" panose="02040503050406030204" pitchFamily="18" charset="0"/>
                          </a:rPr>
                        </m:ctrlPr>
                      </m:sSupPr>
                      <m:e>
                        <m:r>
                          <a:rPr lang="it-IT" sz="2400" i="1">
                            <a:latin typeface="Cambria Math" panose="02040503050406030204" pitchFamily="18" charset="0"/>
                            <a:ea typeface="Cambria Math" panose="02040503050406030204" pitchFamily="18" charset="0"/>
                          </a:rPr>
                          <m:t>𝑅</m:t>
                        </m:r>
                      </m:e>
                      <m:sup>
                        <m:r>
                          <a:rPr lang="it-IT" sz="2400" i="1">
                            <a:latin typeface="Cambria Math" panose="02040503050406030204" pitchFamily="18" charset="0"/>
                            <a:ea typeface="Cambria Math" panose="02040503050406030204" pitchFamily="18" charset="0"/>
                          </a:rPr>
                          <m:t>2</m:t>
                        </m:r>
                      </m:sup>
                    </m:sSup>
                    <m:r>
                      <a:rPr lang="it-IT" sz="2400" i="1">
                        <a:latin typeface="Cambria Math" panose="02040503050406030204" pitchFamily="18" charset="0"/>
                        <a:ea typeface="Cambria Math" panose="02040503050406030204" pitchFamily="18" charset="0"/>
                      </a:rPr>
                      <m:t> </m:t>
                    </m:r>
                  </m:oMath>
                </a14:m>
                <a:r>
                  <a:rPr lang="it-IT" sz="2400" dirty="0">
                    <a:latin typeface="+mj-lt"/>
                  </a:rPr>
                  <a:t>medi compresi tra 0.969 e 0.982 (coefficiente di correlazione di Pearson e regressione lineare).</a:t>
                </a:r>
              </a:p>
              <a:p>
                <a:r>
                  <a:rPr lang="it-IT" sz="2400" b="1" dirty="0">
                    <a:latin typeface="+mj-lt"/>
                  </a:rPr>
                  <a:t>Dipendenza predittiva significativa RRI→PPI</a:t>
                </a:r>
                <a:r>
                  <a:rPr lang="it-IT" sz="2400" dirty="0">
                    <a:latin typeface="+mj-lt"/>
                  </a:rPr>
                  <a:t> nella quasi totalità dei soggetti: circa 97% a riposo, 100% nel tilt e 97% durante l’aritmetica mentale (F-test).</a:t>
                </a:r>
              </a:p>
              <a:p>
                <a:r>
                  <a:rPr lang="it-IT" sz="2400" b="1" dirty="0">
                    <a:latin typeface="+mj-lt"/>
                  </a:rPr>
                  <a:t>Variazione significativa della causalità di Granger tra le condizioni</a:t>
                </a:r>
                <a:r>
                  <a:rPr lang="it-IT" sz="2400" dirty="0">
                    <a:latin typeface="+mj-lt"/>
                  </a:rPr>
                  <a:t>, con un aumento particolarmente evidente durante il tilt (ANOVA e T-test appaiato).</a:t>
                </a:r>
              </a:p>
              <a:p>
                <a:pPr lvl="0"/>
                <a:r>
                  <a:rPr lang="it-IT" sz="2400" b="1" dirty="0">
                    <a:latin typeface="+mj-lt"/>
                  </a:rPr>
                  <a:t>Prevalenza significativa della direzione RRI→PPI</a:t>
                </a:r>
                <a:r>
                  <a:rPr lang="it-IT" sz="2400" dirty="0">
                    <a:latin typeface="+mj-lt"/>
                  </a:rPr>
                  <a:t> rispetto a PPI→RRI in tutte le condizioni, evidenziando un’interazione bidirezionale ma asimmetrica (T-test appaiato).</a:t>
                </a:r>
              </a:p>
              <a:p>
                <a:pPr lvl="0"/>
                <a:r>
                  <a:rPr lang="it-IT" sz="2400" b="1" dirty="0">
                    <a:latin typeface="+mj-lt"/>
                  </a:rPr>
                  <a:t>Influenza della variabilità del PAT sulle differenze tra RRI e PPI</a:t>
                </a:r>
                <a:r>
                  <a:rPr lang="it-IT" sz="2400" dirty="0">
                    <a:latin typeface="+mj-lt"/>
                  </a:rPr>
                  <a:t>: le variazioni battito per battito del tempo di arrivo dell’onda introducono una componente periferica nella serie PPI.</a:t>
                </a:r>
              </a:p>
              <a:p>
                <a:endParaRPr lang="it-IT" dirty="0"/>
              </a:p>
            </p:txBody>
          </p:sp>
        </mc:Choice>
        <mc:Fallback xmlns="">
          <p:sp>
            <p:nvSpPr>
              <p:cNvPr id="3" name="Segnaposto contenuto 2">
                <a:extLst>
                  <a:ext uri="{FF2B5EF4-FFF2-40B4-BE49-F238E27FC236}">
                    <a16:creationId xmlns:a16="http://schemas.microsoft.com/office/drawing/2014/main" id="{CEE37BF1-E67C-CEB0-CC1D-9EAB17F44FDC}"/>
                  </a:ext>
                </a:extLst>
              </p:cNvPr>
              <p:cNvSpPr>
                <a:spLocks noGrp="1" noRot="1" noChangeAspect="1" noMove="1" noResize="1" noEditPoints="1" noAdjustHandles="1" noChangeArrowheads="1" noChangeShapeType="1" noTextEdit="1"/>
              </p:cNvSpPr>
              <p:nvPr>
                <p:ph idx="1"/>
              </p:nvPr>
            </p:nvSpPr>
            <p:spPr>
              <a:blipFill>
                <a:blip r:embed="rId2"/>
                <a:stretch>
                  <a:fillRect l="-596" t="-649" r="-921" b="-1556"/>
                </a:stretch>
              </a:blipFill>
            </p:spPr>
            <p:txBody>
              <a:bodyPr/>
              <a:lstStyle/>
              <a:p>
                <a:r>
                  <a:rPr lang="it-IT">
                    <a:noFill/>
                  </a:rPr>
                  <a:t> </a:t>
                </a:r>
              </a:p>
            </p:txBody>
          </p:sp>
        </mc:Fallback>
      </mc:AlternateContent>
    </p:spTree>
    <p:extLst>
      <p:ext uri="{BB962C8B-B14F-4D97-AF65-F5344CB8AC3E}">
        <p14:creationId xmlns:p14="http://schemas.microsoft.com/office/powerpoint/2010/main" val="2269712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E1A25D8-D334-C830-24CF-7B0004C1A0C0}"/>
              </a:ext>
            </a:extLst>
          </p:cNvPr>
          <p:cNvSpPr>
            <a:spLocks noGrp="1"/>
          </p:cNvSpPr>
          <p:nvPr>
            <p:ph type="title"/>
          </p:nvPr>
        </p:nvSpPr>
        <p:spPr>
          <a:xfrm>
            <a:off x="379614" y="2902915"/>
            <a:ext cx="11244262" cy="900113"/>
          </a:xfrm>
        </p:spPr>
        <p:txBody>
          <a:bodyPr>
            <a:normAutofit fontScale="90000"/>
          </a:bodyPr>
          <a:lstStyle/>
          <a:p>
            <a:pPr marL="0" indent="0" algn="ctr">
              <a:buNone/>
            </a:pPr>
            <a:r>
              <a:rPr lang="it-IT" sz="6600" i="1" dirty="0">
                <a:cs typeface="Times New Roman" panose="02020603050405020304" pitchFamily="18" charset="0"/>
              </a:rPr>
              <a:t>Grazie per l’attenzione!</a:t>
            </a:r>
          </a:p>
        </p:txBody>
      </p:sp>
      <p:pic>
        <p:nvPicPr>
          <p:cNvPr id="5" name="Immagine 4">
            <a:extLst>
              <a:ext uri="{FF2B5EF4-FFF2-40B4-BE49-F238E27FC236}">
                <a16:creationId xmlns:a16="http://schemas.microsoft.com/office/drawing/2014/main" id="{B5855C85-8B26-FB6E-7698-10DABC8AD61D}"/>
              </a:ext>
            </a:extLst>
          </p:cNvPr>
          <p:cNvPicPr>
            <a:picLocks noChangeAspect="1"/>
          </p:cNvPicPr>
          <p:nvPr/>
        </p:nvPicPr>
        <p:blipFill>
          <a:blip r:embed="rId2"/>
          <a:stretch/>
        </p:blipFill>
        <p:spPr>
          <a:xfrm>
            <a:off x="3769179" y="762000"/>
            <a:ext cx="4653643" cy="1428750"/>
          </a:xfrm>
          <a:prstGeom prst="rect">
            <a:avLst/>
          </a:prstGeom>
        </p:spPr>
      </p:pic>
      <p:sp>
        <p:nvSpPr>
          <p:cNvPr id="7" name="CasellaDiTesto 6">
            <a:extLst>
              <a:ext uri="{FF2B5EF4-FFF2-40B4-BE49-F238E27FC236}">
                <a16:creationId xmlns:a16="http://schemas.microsoft.com/office/drawing/2014/main" id="{BA1D0AF7-5A11-A175-A147-48885E00D658}"/>
              </a:ext>
            </a:extLst>
          </p:cNvPr>
          <p:cNvSpPr txBox="1"/>
          <p:nvPr/>
        </p:nvSpPr>
        <p:spPr>
          <a:xfrm>
            <a:off x="1196787" y="5298141"/>
            <a:ext cx="5432611" cy="646331"/>
          </a:xfrm>
          <a:prstGeom prst="rect">
            <a:avLst/>
          </a:prstGeom>
          <a:noFill/>
        </p:spPr>
        <p:txBody>
          <a:bodyPr wrap="square" rtlCol="0">
            <a:spAutoFit/>
          </a:bodyPr>
          <a:lstStyle/>
          <a:p>
            <a:r>
              <a:rPr lang="it-IT" b="1" dirty="0">
                <a:latin typeface="+mj-lt"/>
                <a:cs typeface="Times New Roman" panose="02020603050405020304" pitchFamily="18" charset="0"/>
              </a:rPr>
              <a:t>Contatti</a:t>
            </a:r>
            <a:r>
              <a:rPr lang="it-IT" dirty="0">
                <a:latin typeface="+mj-lt"/>
                <a:cs typeface="Times New Roman" panose="02020603050405020304" pitchFamily="18" charset="0"/>
              </a:rPr>
              <a:t>: luca.pagliarello@you.unipa.it </a:t>
            </a:r>
          </a:p>
          <a:p>
            <a:endParaRPr lang="it-IT" dirty="0"/>
          </a:p>
        </p:txBody>
      </p:sp>
    </p:spTree>
    <p:extLst>
      <p:ext uri="{BB962C8B-B14F-4D97-AF65-F5344CB8AC3E}">
        <p14:creationId xmlns:p14="http://schemas.microsoft.com/office/powerpoint/2010/main" val="1498147578"/>
      </p:ext>
    </p:extLst>
  </p:cSld>
  <p:clrMapOvr>
    <a:masterClrMapping/>
  </p:clrMapOvr>
</p:sld>
</file>

<file path=ppt/theme/theme1.xml><?xml version="1.0" encoding="utf-8"?>
<a:theme xmlns:a="http://schemas.openxmlformats.org/drawingml/2006/main" name="Righe">
  <a:themeElements>
    <a:clrScheme name="Righe">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73C0D9B4-D252-4142-B71F-89E39AB3FA27}" vid="{AF756BC4-928A-4ACB-8AC0-2FBFD00AF409}"/>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Lines</Template>
  <TotalTime>0</TotalTime>
  <Words>1700</Words>
  <Application>Microsoft Office PowerPoint</Application>
  <PresentationFormat>Widescreen</PresentationFormat>
  <Paragraphs>163</Paragraphs>
  <Slides>24</Slides>
  <Notes>5</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24</vt:i4>
      </vt:variant>
    </vt:vector>
  </HeadingPairs>
  <TitlesOfParts>
    <vt:vector size="31" baseType="lpstr">
      <vt:lpstr>Aptos</vt:lpstr>
      <vt:lpstr>Arial</vt:lpstr>
      <vt:lpstr>Arial Nova Light</vt:lpstr>
      <vt:lpstr>Cambria Math</vt:lpstr>
      <vt:lpstr>Times New Roman</vt:lpstr>
      <vt:lpstr>Univers Condensed</vt:lpstr>
      <vt:lpstr>Righe</vt:lpstr>
      <vt:lpstr>Analisi Statistica Comparativa Tra Intervalli RRI E PPI</vt:lpstr>
      <vt:lpstr>Contesto fisiologico</vt:lpstr>
      <vt:lpstr>Database b: intervalli cardiaci e periferici</vt:lpstr>
      <vt:lpstr>OBIETTIVO DELLO STUDIO</vt:lpstr>
      <vt:lpstr>SETUP algoritmo e inizializzazione</vt:lpstr>
      <vt:lpstr>Costruzione dellE serie</vt:lpstr>
      <vt:lpstr>SERIE RRI E PPI DEL SOGGETTO RAPPRESENTATIVO</vt:lpstr>
      <vt:lpstr>SERIE PAT</vt:lpstr>
      <vt:lpstr>SERIE PAT DEL SOGGETTO RAPPRESENTATIVO</vt:lpstr>
      <vt:lpstr>PAT medio e variabilità nelle tre condizioni</vt:lpstr>
      <vt:lpstr>PAT medio e variabilità nelle tre condizioni</vt:lpstr>
      <vt:lpstr>Correlazione e regressione lineare</vt:lpstr>
      <vt:lpstr>Risultati regressione rri-ppi</vt:lpstr>
      <vt:lpstr>Pre-elaborazione e ordine del modello</vt:lpstr>
      <vt:lpstr>Causalità di Granger da modelli di regressione</vt:lpstr>
      <vt:lpstr>F-test della causalità di Granger</vt:lpstr>
      <vt:lpstr>RISULTATI F-TEST</vt:lpstr>
      <vt:lpstr>ANOVA TEST</vt:lpstr>
      <vt:lpstr>T-TEST TRA LE FASI</vt:lpstr>
      <vt:lpstr>RISULTATI T-TEST</vt:lpstr>
      <vt:lpstr>T-TEST SULLA STESSA FASE</vt:lpstr>
      <vt:lpstr>RISULTATI T-TEST SULLA STESSA FASE </vt:lpstr>
      <vt:lpstr>CONCLUSIONI</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PAGLIARELLO</dc:creator>
  <cp:lastModifiedBy>LUCA PAGLIARELLO</cp:lastModifiedBy>
  <cp:revision>3</cp:revision>
  <dcterms:created xsi:type="dcterms:W3CDTF">2026-09-09T10:17:57Z</dcterms:created>
  <dcterms:modified xsi:type="dcterms:W3CDTF">2026-09-10T15:28:11Z</dcterms:modified>
</cp:coreProperties>
</file>